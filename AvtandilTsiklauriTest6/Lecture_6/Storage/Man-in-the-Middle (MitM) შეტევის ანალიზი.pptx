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A705E9-7C02-F43A-1813-82563117AFCA}" v="664" dt="2026-03-27T19:05:31.828"/>
    <p1510:client id="{5EE07A25-69E2-79AB-4519-B3A2987D1BC9}" v="433" dt="2026-03-27T19:55:05.282"/>
    <p1510:client id="{FBA91B63-F9A4-4D98-8B54-7EA33DEBE866}" v="118" dt="2026-03-26T16:32:27.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src.nist.gov/projects/post-quantum-cryptography" TargetMode="External"/><Relationship Id="rId2" Type="http://schemas.openxmlformats.org/officeDocument/2006/relationships/hyperlink" Target="https://owasp.org/" TargetMode="External"/><Relationship Id="rId1" Type="http://schemas.openxmlformats.org/officeDocument/2006/relationships/slideLayout" Target="../slideLayouts/slideLayout2.xml"/><Relationship Id="rId4" Type="http://schemas.openxmlformats.org/officeDocument/2006/relationships/hyperlink" Target="https://krebsonsecurity.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endParaRPr>
          </a:p>
        </p:txBody>
      </p:sp>
      <p:sp>
        <p:nvSpPr>
          <p:cNvPr id="2" name="Title 1"/>
          <p:cNvSpPr>
            <a:spLocks noGrp="1"/>
          </p:cNvSpPr>
          <p:nvPr>
            <p:ph type="ctrTitle"/>
          </p:nvPr>
        </p:nvSpPr>
        <p:spPr>
          <a:xfrm>
            <a:off x="1760183" y="1306411"/>
            <a:ext cx="8051386" cy="2015893"/>
          </a:xfrm>
        </p:spPr>
        <p:txBody>
          <a:bodyPr vert="horz" lIns="91440" tIns="45720" rIns="91440" bIns="45720" rtlCol="0" anchor="b">
            <a:normAutofit/>
          </a:bodyPr>
          <a:lstStyle/>
          <a:p>
            <a:pPr algn="l"/>
            <a:r>
              <a:rPr lang="en-US" sz="5600" kern="1200" dirty="0">
                <a:solidFill>
                  <a:schemeClr val="bg1"/>
                </a:solidFill>
                <a:latin typeface="+mj-lt"/>
                <a:ea typeface="+mj-ea"/>
                <a:cs typeface="+mj-cs"/>
              </a:rPr>
              <a:t>Man-in-the-Middle (MitM) </a:t>
            </a:r>
            <a:r>
              <a:rPr lang="en-US" sz="5600" kern="1200" dirty="0" err="1">
                <a:solidFill>
                  <a:schemeClr val="bg1"/>
                </a:solidFill>
                <a:latin typeface="+mj-lt"/>
                <a:ea typeface="+mj-ea"/>
                <a:cs typeface="+mj-cs"/>
              </a:rPr>
              <a:t>შეტევის</a:t>
            </a:r>
            <a:r>
              <a:rPr lang="en-US" sz="5600" kern="1200" dirty="0">
                <a:solidFill>
                  <a:schemeClr val="bg1"/>
                </a:solidFill>
                <a:latin typeface="+mj-lt"/>
                <a:ea typeface="+mj-ea"/>
                <a:cs typeface="+mj-cs"/>
              </a:rPr>
              <a:t> </a:t>
            </a:r>
            <a:r>
              <a:rPr lang="en-US" sz="5600" kern="1200" dirty="0" err="1">
                <a:solidFill>
                  <a:schemeClr val="bg1"/>
                </a:solidFill>
                <a:latin typeface="+mj-lt"/>
                <a:ea typeface="+mj-ea"/>
                <a:cs typeface="+mj-cs"/>
              </a:rPr>
              <a:t>ანალიზი</a:t>
            </a:r>
          </a:p>
        </p:txBody>
      </p:sp>
      <p:sp>
        <p:nvSpPr>
          <p:cNvPr id="4" name="TextBox 3">
            <a:extLst>
              <a:ext uri="{FF2B5EF4-FFF2-40B4-BE49-F238E27FC236}">
                <a16:creationId xmlns:a16="http://schemas.microsoft.com/office/drawing/2014/main" id="{F4C90041-3040-D5B8-5B2E-EA182B8407BE}"/>
              </a:ext>
            </a:extLst>
          </p:cNvPr>
          <p:cNvSpPr txBox="1"/>
          <p:nvPr/>
        </p:nvSpPr>
        <p:spPr>
          <a:xfrm>
            <a:off x="1922742" y="3622040"/>
            <a:ext cx="4048337" cy="43656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ts val="1000"/>
              </a:spcBef>
              <a:spcAft>
                <a:spcPts val="600"/>
              </a:spcAft>
            </a:pPr>
            <a:r>
              <a:rPr lang="en-US" sz="2400" kern="1200" dirty="0" err="1">
                <a:solidFill>
                  <a:schemeClr val="bg1"/>
                </a:solidFill>
                <a:latin typeface="+mn-lt"/>
                <a:ea typeface="+mn-ea"/>
                <a:cs typeface="+mn-cs"/>
              </a:rPr>
              <a:t>ნიკოლოზ</a:t>
            </a:r>
            <a:r>
              <a:rPr lang="en-US" sz="2400" kern="1200" dirty="0">
                <a:solidFill>
                  <a:schemeClr val="bg1"/>
                </a:solidFill>
                <a:latin typeface="+mn-lt"/>
                <a:ea typeface="+mn-ea"/>
                <a:cs typeface="+mn-cs"/>
              </a:rPr>
              <a:t> </a:t>
            </a:r>
            <a:r>
              <a:rPr lang="en-US" sz="2400" kern="1200" dirty="0" err="1">
                <a:solidFill>
                  <a:schemeClr val="bg1"/>
                </a:solidFill>
                <a:latin typeface="+mn-lt"/>
                <a:ea typeface="+mn-ea"/>
                <a:cs typeface="+mn-cs"/>
              </a:rPr>
              <a:t>მარგიშვილი</a:t>
            </a:r>
            <a:endParaRPr lang="en-US" sz="2400" kern="1200" dirty="0">
              <a:solidFill>
                <a:schemeClr val="bg1"/>
              </a:solidFill>
              <a:latin typeface="+mn-lt"/>
            </a:endParaRPr>
          </a:p>
        </p:txBody>
      </p:sp>
      <p:cxnSp>
        <p:nvCxnSpPr>
          <p:cNvPr id="18" name="Straight Connector 17">
            <a:extLst>
              <a:ext uri="{FF2B5EF4-FFF2-40B4-BE49-F238E27FC236}">
                <a16:creationId xmlns:a16="http://schemas.microsoft.com/office/drawing/2014/main" id="{EC4521DE-248E-440D-AAD6-FD9E7D34B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285"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42C13FA-4C0F-42D0-9626-5BA6040D8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6252485"/>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sp>
        <p:nvSpPr>
          <p:cNvPr id="2" name="Title 1">
            <a:extLst>
              <a:ext uri="{FF2B5EF4-FFF2-40B4-BE49-F238E27FC236}">
                <a16:creationId xmlns:a16="http://schemas.microsoft.com/office/drawing/2014/main" id="{CA9AF0A1-9EB4-FB83-7953-582208AC1214}"/>
              </a:ext>
            </a:extLst>
          </p:cNvPr>
          <p:cNvSpPr>
            <a:spLocks noGrp="1"/>
          </p:cNvSpPr>
          <p:nvPr>
            <p:ph type="title"/>
          </p:nvPr>
        </p:nvSpPr>
        <p:spPr>
          <a:xfrm>
            <a:off x="344741" y="350203"/>
            <a:ext cx="9795637" cy="1245415"/>
          </a:xfrm>
        </p:spPr>
        <p:txBody>
          <a:bodyPr vert="horz" lIns="91440" tIns="45720" rIns="91440" bIns="45720" rtlCol="0" anchor="b">
            <a:normAutofit/>
          </a:bodyPr>
          <a:lstStyle/>
          <a:p>
            <a:r>
              <a:rPr lang="en-US" sz="4000" err="1">
                <a:solidFill>
                  <a:srgbClr val="FFFFFF"/>
                </a:solidFill>
              </a:rPr>
              <a:t>კრიპტოგრაფიის</a:t>
            </a:r>
            <a:r>
              <a:rPr lang="en-US" sz="4000" dirty="0">
                <a:solidFill>
                  <a:srgbClr val="FFFFFF"/>
                </a:solidFill>
              </a:rPr>
              <a:t> </a:t>
            </a:r>
            <a:r>
              <a:rPr lang="en-US" sz="4000" err="1">
                <a:solidFill>
                  <a:srgbClr val="FFFFFF"/>
                </a:solidFill>
              </a:rPr>
              <a:t>საფუძვლები</a:t>
            </a:r>
            <a:r>
              <a:rPr lang="en-US" sz="4000" dirty="0">
                <a:solidFill>
                  <a:srgbClr val="FFFFFF"/>
                </a:solidFill>
              </a:rPr>
              <a:t> </a:t>
            </a:r>
            <a:r>
              <a:rPr lang="en-US" sz="4000" err="1">
                <a:solidFill>
                  <a:srgbClr val="FFFFFF"/>
                </a:solidFill>
              </a:rPr>
              <a:t>და</a:t>
            </a:r>
            <a:r>
              <a:rPr lang="en-US" sz="4000" dirty="0">
                <a:solidFill>
                  <a:srgbClr val="FFFFFF"/>
                </a:solidFill>
              </a:rPr>
              <a:t> </a:t>
            </a:r>
            <a:r>
              <a:rPr lang="en-US" sz="4000" err="1">
                <a:solidFill>
                  <a:srgbClr val="FFFFFF"/>
                </a:solidFill>
              </a:rPr>
              <a:t>შეტევის</a:t>
            </a:r>
            <a:r>
              <a:rPr lang="en-US" sz="4000" dirty="0">
                <a:solidFill>
                  <a:srgbClr val="FFFFFF"/>
                </a:solidFill>
              </a:rPr>
              <a:t> </a:t>
            </a:r>
            <a:r>
              <a:rPr lang="en-US" sz="4000" err="1">
                <a:solidFill>
                  <a:srgbClr val="FFFFFF"/>
                </a:solidFill>
              </a:rPr>
              <a:t>ტიპები</a:t>
            </a:r>
            <a:endParaRPr lang="en-US" sz="4000" dirty="0">
              <a:solidFill>
                <a:srgbClr val="FFFFFF"/>
              </a:solidFill>
            </a:endParaRPr>
          </a:p>
        </p:txBody>
      </p:sp>
      <p:sp>
        <p:nvSpPr>
          <p:cNvPr id="4" name="TextBox 3">
            <a:extLst>
              <a:ext uri="{FF2B5EF4-FFF2-40B4-BE49-F238E27FC236}">
                <a16:creationId xmlns:a16="http://schemas.microsoft.com/office/drawing/2014/main" id="{E74927BE-3BA5-2B30-5473-5B505B50D3F1}"/>
              </a:ext>
            </a:extLst>
          </p:cNvPr>
          <p:cNvSpPr txBox="1"/>
          <p:nvPr/>
        </p:nvSpPr>
        <p:spPr>
          <a:xfrm>
            <a:off x="192341" y="5130293"/>
            <a:ext cx="6138037" cy="123408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ts val="1000"/>
              </a:spcBef>
            </a:pPr>
            <a:r>
              <a:rPr lang="en-US" sz="2400" dirty="0" err="1">
                <a:solidFill>
                  <a:srgbClr val="FFFFFF"/>
                </a:solidFill>
              </a:rPr>
              <a:t>კრიპტოგრაფიის</a:t>
            </a:r>
            <a:r>
              <a:rPr lang="en-US" sz="2400" dirty="0">
                <a:solidFill>
                  <a:srgbClr val="FFFFFF"/>
                </a:solidFill>
              </a:rPr>
              <a:t> </a:t>
            </a:r>
            <a:r>
              <a:rPr lang="en-US" sz="2400" dirty="0" err="1">
                <a:solidFill>
                  <a:srgbClr val="FFFFFF"/>
                </a:solidFill>
              </a:rPr>
              <a:t>მიზანი</a:t>
            </a:r>
            <a:r>
              <a:rPr lang="en-US" sz="2400" dirty="0">
                <a:solidFill>
                  <a:srgbClr val="FFFFFF"/>
                </a:solidFill>
              </a:rPr>
              <a:t>: </a:t>
            </a:r>
            <a:r>
              <a:rPr lang="en-US" sz="2400" dirty="0" err="1">
                <a:solidFill>
                  <a:srgbClr val="FFFFFF"/>
                </a:solidFill>
              </a:rPr>
              <a:t>მონაცემთა</a:t>
            </a:r>
            <a:r>
              <a:rPr lang="en-US" sz="2400" dirty="0">
                <a:solidFill>
                  <a:srgbClr val="FFFFFF"/>
                </a:solidFill>
              </a:rPr>
              <a:t> </a:t>
            </a:r>
            <a:r>
              <a:rPr lang="en-US" sz="2400" dirty="0" err="1">
                <a:solidFill>
                  <a:srgbClr val="FFFFFF"/>
                </a:solidFill>
              </a:rPr>
              <a:t>დაცვა</a:t>
            </a:r>
            <a:r>
              <a:rPr lang="en-US" sz="2400" dirty="0">
                <a:solidFill>
                  <a:srgbClr val="FFFFFF"/>
                </a:solidFill>
              </a:rPr>
              <a:t> </a:t>
            </a:r>
            <a:r>
              <a:rPr lang="en-US" sz="2400" dirty="0" err="1">
                <a:solidFill>
                  <a:srgbClr val="FFFFFF"/>
                </a:solidFill>
              </a:rPr>
              <a:t>დაშიფვრის</a:t>
            </a:r>
            <a:r>
              <a:rPr lang="en-US" sz="2400" dirty="0">
                <a:solidFill>
                  <a:srgbClr val="FFFFFF"/>
                </a:solidFill>
              </a:rPr>
              <a:t> (Encryption) </a:t>
            </a:r>
            <a:r>
              <a:rPr lang="en-US" sz="2400" dirty="0" err="1">
                <a:solidFill>
                  <a:srgbClr val="FFFFFF"/>
                </a:solidFill>
              </a:rPr>
              <a:t>მეშვეობით</a:t>
            </a:r>
            <a:r>
              <a:rPr lang="en-US" sz="2400" dirty="0">
                <a:solidFill>
                  <a:srgbClr val="FFFFFF"/>
                </a:solidFill>
              </a:rPr>
              <a:t>.</a:t>
            </a:r>
            <a:endParaRPr lang="en-US" sz="2400">
              <a:solidFill>
                <a:srgbClr val="FFFFFF"/>
              </a:solidFill>
            </a:endParaRPr>
          </a:p>
        </p:txBody>
      </p:sp>
      <p:sp>
        <p:nvSpPr>
          <p:cNvPr id="5" name="TextBox 4">
            <a:extLst>
              <a:ext uri="{FF2B5EF4-FFF2-40B4-BE49-F238E27FC236}">
                <a16:creationId xmlns:a16="http://schemas.microsoft.com/office/drawing/2014/main" id="{8F90FA2C-87E7-32F7-25E8-799742C5E84B}"/>
              </a:ext>
            </a:extLst>
          </p:cNvPr>
          <p:cNvSpPr txBox="1"/>
          <p:nvPr/>
        </p:nvSpPr>
        <p:spPr>
          <a:xfrm>
            <a:off x="344836" y="2214168"/>
            <a:ext cx="4426336" cy="26930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Aft>
                <a:spcPts val="600"/>
              </a:spcAft>
              <a:buFont typeface="Arial"/>
              <a:buChar char="•"/>
            </a:pPr>
            <a:r>
              <a:rPr lang="en-US" dirty="0" err="1">
                <a:solidFill>
                  <a:schemeClr val="bg1"/>
                </a:solidFill>
                <a:ea typeface="+mn-lt"/>
                <a:cs typeface="+mn-lt"/>
              </a:rPr>
              <a:t>შეტევების</a:t>
            </a:r>
            <a:r>
              <a:rPr lang="en-US" dirty="0">
                <a:solidFill>
                  <a:schemeClr val="bg1"/>
                </a:solidFill>
                <a:ea typeface="+mn-lt"/>
                <a:cs typeface="+mn-lt"/>
              </a:rPr>
              <a:t> </a:t>
            </a:r>
            <a:r>
              <a:rPr lang="en-US" dirty="0" err="1">
                <a:solidFill>
                  <a:schemeClr val="bg1"/>
                </a:solidFill>
                <a:ea typeface="+mn-lt"/>
                <a:cs typeface="+mn-lt"/>
              </a:rPr>
              <a:t>კატეგორიზაცია</a:t>
            </a:r>
            <a:r>
              <a:rPr lang="en-US" dirty="0">
                <a:solidFill>
                  <a:schemeClr val="bg1"/>
                </a:solidFill>
                <a:ea typeface="+mn-lt"/>
                <a:cs typeface="+mn-lt"/>
              </a:rPr>
              <a:t>:</a:t>
            </a:r>
            <a:endParaRPr lang="en-US">
              <a:solidFill>
                <a:schemeClr val="bg1"/>
              </a:solidFill>
            </a:endParaRPr>
          </a:p>
          <a:p>
            <a:pPr marL="285750" indent="-285750">
              <a:spcAft>
                <a:spcPts val="600"/>
              </a:spcAft>
              <a:buFont typeface="Arial"/>
              <a:buChar char="•"/>
            </a:pPr>
            <a:endParaRPr lang="en-US" dirty="0">
              <a:solidFill>
                <a:schemeClr val="bg1"/>
              </a:solidFill>
              <a:ea typeface="+mn-lt"/>
              <a:cs typeface="+mn-lt"/>
            </a:endParaRPr>
          </a:p>
          <a:p>
            <a:pPr marL="742950" lvl="1" indent="-285750">
              <a:spcAft>
                <a:spcPts val="600"/>
              </a:spcAft>
              <a:buFont typeface="Courier New"/>
              <a:buChar char="o"/>
            </a:pPr>
            <a:r>
              <a:rPr lang="en-US" b="1" dirty="0" err="1">
                <a:solidFill>
                  <a:schemeClr val="bg1"/>
                </a:solidFill>
                <a:ea typeface="+mn-lt"/>
                <a:cs typeface="+mn-lt"/>
              </a:rPr>
              <a:t>პასიური</a:t>
            </a:r>
            <a:r>
              <a:rPr lang="en-US" b="1" dirty="0">
                <a:solidFill>
                  <a:schemeClr val="bg1"/>
                </a:solidFill>
                <a:ea typeface="+mn-lt"/>
                <a:cs typeface="+mn-lt"/>
              </a:rPr>
              <a:t> (Passive):</a:t>
            </a:r>
            <a:r>
              <a:rPr lang="en-US" dirty="0">
                <a:solidFill>
                  <a:schemeClr val="bg1"/>
                </a:solidFill>
                <a:ea typeface="+mn-lt"/>
                <a:cs typeface="+mn-lt"/>
              </a:rPr>
              <a:t> </a:t>
            </a:r>
            <a:r>
              <a:rPr lang="en-US" dirty="0" err="1">
                <a:solidFill>
                  <a:schemeClr val="bg1"/>
                </a:solidFill>
                <a:ea typeface="+mn-lt"/>
                <a:cs typeface="+mn-lt"/>
              </a:rPr>
              <a:t>ინფორმაციის</a:t>
            </a:r>
            <a:r>
              <a:rPr lang="en-US" dirty="0">
                <a:solidFill>
                  <a:schemeClr val="bg1"/>
                </a:solidFill>
                <a:ea typeface="+mn-lt"/>
                <a:cs typeface="+mn-lt"/>
              </a:rPr>
              <a:t> </a:t>
            </a:r>
            <a:r>
              <a:rPr lang="en-US" dirty="0" err="1">
                <a:solidFill>
                  <a:schemeClr val="bg1"/>
                </a:solidFill>
                <a:ea typeface="+mn-lt"/>
                <a:cs typeface="+mn-lt"/>
              </a:rPr>
              <a:t>ფარული</a:t>
            </a:r>
            <a:r>
              <a:rPr lang="en-US" dirty="0">
                <a:solidFill>
                  <a:schemeClr val="bg1"/>
                </a:solidFill>
                <a:ea typeface="+mn-lt"/>
                <a:cs typeface="+mn-lt"/>
              </a:rPr>
              <a:t> </a:t>
            </a:r>
            <a:r>
              <a:rPr lang="en-US" dirty="0" err="1">
                <a:solidFill>
                  <a:schemeClr val="bg1"/>
                </a:solidFill>
                <a:ea typeface="+mn-lt"/>
                <a:cs typeface="+mn-lt"/>
              </a:rPr>
              <a:t>მოსმენა</a:t>
            </a:r>
            <a:r>
              <a:rPr lang="en-US" dirty="0">
                <a:solidFill>
                  <a:schemeClr val="bg1"/>
                </a:solidFill>
                <a:ea typeface="+mn-lt"/>
                <a:cs typeface="+mn-lt"/>
              </a:rPr>
              <a:t> (Eavesdropping).</a:t>
            </a:r>
          </a:p>
          <a:p>
            <a:pPr marL="742950" lvl="1" indent="-285750">
              <a:spcAft>
                <a:spcPts val="600"/>
              </a:spcAft>
              <a:buFont typeface="Courier New"/>
              <a:buChar char="o"/>
            </a:pPr>
            <a:endParaRPr lang="en-US" dirty="0">
              <a:solidFill>
                <a:schemeClr val="bg1"/>
              </a:solidFill>
              <a:ea typeface="+mn-lt"/>
              <a:cs typeface="+mn-lt"/>
            </a:endParaRPr>
          </a:p>
          <a:p>
            <a:pPr marL="742950" lvl="1" indent="-285750">
              <a:spcAft>
                <a:spcPts val="600"/>
              </a:spcAft>
              <a:buFont typeface="Courier New"/>
              <a:buChar char="o"/>
            </a:pPr>
            <a:r>
              <a:rPr lang="en-US" b="1" dirty="0" err="1">
                <a:solidFill>
                  <a:schemeClr val="bg1"/>
                </a:solidFill>
                <a:ea typeface="+mn-lt"/>
                <a:cs typeface="+mn-lt"/>
              </a:rPr>
              <a:t>აქტიური</a:t>
            </a:r>
            <a:r>
              <a:rPr lang="en-US" b="1" dirty="0">
                <a:solidFill>
                  <a:schemeClr val="bg1"/>
                </a:solidFill>
                <a:ea typeface="+mn-lt"/>
                <a:cs typeface="+mn-lt"/>
              </a:rPr>
              <a:t> (Active):</a:t>
            </a:r>
            <a:r>
              <a:rPr lang="en-US" dirty="0">
                <a:solidFill>
                  <a:schemeClr val="bg1"/>
                </a:solidFill>
                <a:ea typeface="+mn-lt"/>
                <a:cs typeface="+mn-lt"/>
              </a:rPr>
              <a:t> </a:t>
            </a:r>
            <a:r>
              <a:rPr lang="en-US" dirty="0" err="1">
                <a:solidFill>
                  <a:schemeClr val="bg1"/>
                </a:solidFill>
                <a:ea typeface="+mn-lt"/>
                <a:cs typeface="+mn-lt"/>
              </a:rPr>
              <a:t>მონაცემების</a:t>
            </a:r>
            <a:r>
              <a:rPr lang="en-US" dirty="0">
                <a:solidFill>
                  <a:schemeClr val="bg1"/>
                </a:solidFill>
                <a:ea typeface="+mn-lt"/>
                <a:cs typeface="+mn-lt"/>
              </a:rPr>
              <a:t> </a:t>
            </a:r>
            <a:r>
              <a:rPr lang="en-US" dirty="0" err="1">
                <a:solidFill>
                  <a:schemeClr val="bg1"/>
                </a:solidFill>
                <a:ea typeface="+mn-lt"/>
                <a:cs typeface="+mn-lt"/>
              </a:rPr>
              <a:t>ჩაჭრა</a:t>
            </a:r>
            <a:r>
              <a:rPr lang="en-US" dirty="0">
                <a:solidFill>
                  <a:schemeClr val="bg1"/>
                </a:solidFill>
                <a:ea typeface="+mn-lt"/>
                <a:cs typeface="+mn-lt"/>
              </a:rPr>
              <a:t>, </a:t>
            </a:r>
            <a:r>
              <a:rPr lang="en-US" dirty="0" err="1">
                <a:solidFill>
                  <a:schemeClr val="bg1"/>
                </a:solidFill>
                <a:ea typeface="+mn-lt"/>
                <a:cs typeface="+mn-lt"/>
              </a:rPr>
              <a:t>შეცვლა</a:t>
            </a:r>
            <a:r>
              <a:rPr lang="en-US" dirty="0">
                <a:solidFill>
                  <a:schemeClr val="bg1"/>
                </a:solidFill>
                <a:ea typeface="+mn-lt"/>
                <a:cs typeface="+mn-lt"/>
              </a:rPr>
              <a:t> </a:t>
            </a:r>
            <a:r>
              <a:rPr lang="en-US" dirty="0" err="1">
                <a:solidFill>
                  <a:schemeClr val="bg1"/>
                </a:solidFill>
                <a:ea typeface="+mn-lt"/>
                <a:cs typeface="+mn-lt"/>
              </a:rPr>
              <a:t>ან</a:t>
            </a:r>
            <a:r>
              <a:rPr lang="en-US" dirty="0">
                <a:solidFill>
                  <a:schemeClr val="bg1"/>
                </a:solidFill>
                <a:ea typeface="+mn-lt"/>
                <a:cs typeface="+mn-lt"/>
              </a:rPr>
              <a:t> </a:t>
            </a:r>
            <a:r>
              <a:rPr lang="en-US" dirty="0" err="1">
                <a:solidFill>
                  <a:schemeClr val="bg1"/>
                </a:solidFill>
                <a:ea typeface="+mn-lt"/>
                <a:cs typeface="+mn-lt"/>
              </a:rPr>
              <a:t>წაშლა</a:t>
            </a:r>
            <a:r>
              <a:rPr lang="en-US" dirty="0">
                <a:solidFill>
                  <a:schemeClr val="bg1"/>
                </a:solidFill>
                <a:ea typeface="+mn-lt"/>
                <a:cs typeface="+mn-lt"/>
              </a:rPr>
              <a:t>.</a:t>
            </a:r>
          </a:p>
          <a:p>
            <a:pPr>
              <a:spcAft>
                <a:spcPts val="600"/>
              </a:spcAft>
            </a:pPr>
            <a:endParaRPr lang="en-US"/>
          </a:p>
        </p:txBody>
      </p:sp>
      <p:pic>
        <p:nvPicPr>
          <p:cNvPr id="3" name="Picture 2" descr="Free Digital Shield Glows Image - Cybersecurity, Shield, Protection |  Download at StockCake">
            <a:extLst>
              <a:ext uri="{FF2B5EF4-FFF2-40B4-BE49-F238E27FC236}">
                <a16:creationId xmlns:a16="http://schemas.microsoft.com/office/drawing/2014/main" id="{A2686786-4E80-CE7E-1EE7-C8F399B6CE97}"/>
              </a:ext>
            </a:extLst>
          </p:cNvPr>
          <p:cNvPicPr>
            <a:picLocks noChangeAspect="1"/>
          </p:cNvPicPr>
          <p:nvPr/>
        </p:nvPicPr>
        <p:blipFill>
          <a:blip r:embed="rId2"/>
          <a:stretch>
            <a:fillRect/>
          </a:stretch>
        </p:blipFill>
        <p:spPr>
          <a:xfrm>
            <a:off x="6471285" y="1585912"/>
            <a:ext cx="4857750" cy="3686175"/>
          </a:xfrm>
          <a:prstGeom prst="rect">
            <a:avLst/>
          </a:prstGeom>
        </p:spPr>
      </p:pic>
    </p:spTree>
    <p:extLst>
      <p:ext uri="{BB962C8B-B14F-4D97-AF65-F5344CB8AC3E}">
        <p14:creationId xmlns:p14="http://schemas.microsoft.com/office/powerpoint/2010/main" val="1676074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8D73E3E-53E9-C005-BA93-A1ED0AD617A9}"/>
              </a:ext>
            </a:extLst>
          </p:cNvPr>
          <p:cNvSpPr txBox="1"/>
          <p:nvPr/>
        </p:nvSpPr>
        <p:spPr>
          <a:xfrm>
            <a:off x="848360" y="493672"/>
            <a:ext cx="4391025" cy="132343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ct val="0"/>
              </a:spcBef>
              <a:spcAft>
                <a:spcPts val="600"/>
              </a:spcAft>
            </a:pPr>
            <a:r>
              <a:rPr lang="en-US" sz="4000" kern="1200">
                <a:solidFill>
                  <a:schemeClr val="bg1"/>
                </a:solidFill>
                <a:latin typeface="+mj-lt"/>
                <a:ea typeface="+mj-ea"/>
                <a:cs typeface="+mj-cs"/>
              </a:rPr>
              <a:t>რა</a:t>
            </a:r>
            <a:r>
              <a:rPr lang="en-US" sz="4000" kern="1200" dirty="0">
                <a:solidFill>
                  <a:schemeClr val="bg1"/>
                </a:solidFill>
                <a:latin typeface="+mj-lt"/>
                <a:ea typeface="+mj-ea"/>
                <a:cs typeface="+mj-cs"/>
              </a:rPr>
              <a:t> </a:t>
            </a:r>
            <a:r>
              <a:rPr lang="en-US" sz="4000" kern="1200">
                <a:solidFill>
                  <a:schemeClr val="bg1"/>
                </a:solidFill>
                <a:latin typeface="+mj-lt"/>
                <a:ea typeface="+mj-ea"/>
                <a:cs typeface="+mj-cs"/>
              </a:rPr>
              <a:t>არის</a:t>
            </a:r>
            <a:r>
              <a:rPr lang="en-US" sz="4000" kern="1200" dirty="0">
                <a:solidFill>
                  <a:schemeClr val="bg1"/>
                </a:solidFill>
                <a:latin typeface="+mj-lt"/>
                <a:ea typeface="+mj-ea"/>
                <a:cs typeface="+mj-cs"/>
              </a:rPr>
              <a:t> Man-in-the-Middle (MitM)?</a:t>
            </a:r>
          </a:p>
        </p:txBody>
      </p:sp>
      <p:sp>
        <p:nvSpPr>
          <p:cNvPr id="2" name="TextBox 1">
            <a:extLst>
              <a:ext uri="{FF2B5EF4-FFF2-40B4-BE49-F238E27FC236}">
                <a16:creationId xmlns:a16="http://schemas.microsoft.com/office/drawing/2014/main" id="{916410A5-300C-5A23-8D0A-3F22B6DA0300}"/>
              </a:ext>
            </a:extLst>
          </p:cNvPr>
          <p:cNvSpPr txBox="1"/>
          <p:nvPr/>
        </p:nvSpPr>
        <p:spPr>
          <a:xfrm>
            <a:off x="675640" y="1937360"/>
            <a:ext cx="5244465" cy="405958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n-US" b="1" dirty="0" err="1">
                <a:solidFill>
                  <a:schemeClr val="bg1"/>
                </a:solidFill>
              </a:rPr>
              <a:t>კონცეფცია</a:t>
            </a:r>
            <a:r>
              <a:rPr lang="en-US" b="1" dirty="0">
                <a:solidFill>
                  <a:schemeClr val="bg1"/>
                </a:solidFill>
              </a:rPr>
              <a:t>:</a:t>
            </a:r>
            <a:r>
              <a:rPr lang="en-US" dirty="0">
                <a:solidFill>
                  <a:schemeClr val="bg1"/>
                </a:solidFill>
              </a:rPr>
              <a:t> </a:t>
            </a:r>
            <a:r>
              <a:rPr lang="en-US" dirty="0" err="1">
                <a:solidFill>
                  <a:schemeClr val="bg1"/>
                </a:solidFill>
              </a:rPr>
              <a:t>თავდამსხმელი</a:t>
            </a:r>
            <a:r>
              <a:rPr lang="en-US" dirty="0">
                <a:solidFill>
                  <a:schemeClr val="bg1"/>
                </a:solidFill>
              </a:rPr>
              <a:t> </a:t>
            </a:r>
            <a:r>
              <a:rPr lang="en-US" dirty="0" err="1">
                <a:solidFill>
                  <a:schemeClr val="bg1"/>
                </a:solidFill>
              </a:rPr>
              <a:t>ფარულად</a:t>
            </a:r>
            <a:r>
              <a:rPr lang="en-US" dirty="0">
                <a:solidFill>
                  <a:schemeClr val="bg1"/>
                </a:solidFill>
              </a:rPr>
              <a:t> </a:t>
            </a:r>
            <a:r>
              <a:rPr lang="en-US" dirty="0" err="1">
                <a:solidFill>
                  <a:schemeClr val="bg1"/>
                </a:solidFill>
              </a:rPr>
              <a:t>დგება</a:t>
            </a:r>
            <a:r>
              <a:rPr lang="en-US" dirty="0">
                <a:solidFill>
                  <a:schemeClr val="bg1"/>
                </a:solidFill>
              </a:rPr>
              <a:t> </a:t>
            </a:r>
            <a:r>
              <a:rPr lang="en-US" dirty="0" err="1">
                <a:solidFill>
                  <a:schemeClr val="bg1"/>
                </a:solidFill>
              </a:rPr>
              <a:t>ორ</a:t>
            </a:r>
            <a:r>
              <a:rPr lang="en-US" dirty="0">
                <a:solidFill>
                  <a:schemeClr val="bg1"/>
                </a:solidFill>
              </a:rPr>
              <a:t> </a:t>
            </a:r>
            <a:r>
              <a:rPr lang="en-US" dirty="0" err="1">
                <a:solidFill>
                  <a:schemeClr val="bg1"/>
                </a:solidFill>
              </a:rPr>
              <a:t>მხარეს</a:t>
            </a:r>
            <a:r>
              <a:rPr lang="en-US" dirty="0">
                <a:solidFill>
                  <a:schemeClr val="bg1"/>
                </a:solidFill>
              </a:rPr>
              <a:t> (</a:t>
            </a:r>
            <a:r>
              <a:rPr lang="en-US" dirty="0" err="1">
                <a:solidFill>
                  <a:schemeClr val="bg1"/>
                </a:solidFill>
              </a:rPr>
              <a:t>მაგ</a:t>
            </a:r>
            <a:r>
              <a:rPr lang="en-US" dirty="0">
                <a:solidFill>
                  <a:schemeClr val="bg1"/>
                </a:solidFill>
              </a:rPr>
              <a:t>: </a:t>
            </a:r>
            <a:r>
              <a:rPr lang="en-US" dirty="0" err="1">
                <a:solidFill>
                  <a:schemeClr val="bg1"/>
                </a:solidFill>
              </a:rPr>
              <a:t>მომხმარებელსა</a:t>
            </a:r>
            <a:r>
              <a:rPr lang="en-US" dirty="0">
                <a:solidFill>
                  <a:schemeClr val="bg1"/>
                </a:solidFill>
              </a:rPr>
              <a:t> </a:t>
            </a:r>
            <a:r>
              <a:rPr lang="en-US" dirty="0" err="1">
                <a:solidFill>
                  <a:schemeClr val="bg1"/>
                </a:solidFill>
              </a:rPr>
              <a:t>და</a:t>
            </a:r>
            <a:r>
              <a:rPr lang="en-US" dirty="0">
                <a:solidFill>
                  <a:schemeClr val="bg1"/>
                </a:solidFill>
              </a:rPr>
              <a:t> </a:t>
            </a:r>
            <a:r>
              <a:rPr lang="en-US" dirty="0" err="1">
                <a:solidFill>
                  <a:schemeClr val="bg1"/>
                </a:solidFill>
              </a:rPr>
              <a:t>ბანკს</a:t>
            </a:r>
            <a:r>
              <a:rPr lang="en-US" dirty="0">
                <a:solidFill>
                  <a:schemeClr val="bg1"/>
                </a:solidFill>
              </a:rPr>
              <a:t>) </a:t>
            </a:r>
            <a:r>
              <a:rPr lang="en-US" dirty="0" err="1">
                <a:solidFill>
                  <a:schemeClr val="bg1"/>
                </a:solidFill>
              </a:rPr>
              <a:t>შორის</a:t>
            </a:r>
            <a:r>
              <a:rPr lang="en-US" dirty="0">
                <a:solidFill>
                  <a:schemeClr val="bg1"/>
                </a:solidFill>
              </a:rPr>
              <a:t>.</a:t>
            </a:r>
          </a:p>
          <a:p>
            <a:pPr indent="-228600">
              <a:lnSpc>
                <a:spcPct val="90000"/>
              </a:lnSpc>
              <a:spcAft>
                <a:spcPts val="600"/>
              </a:spcAft>
              <a:buFont typeface="Arial" panose="020B0604020202020204" pitchFamily="34" charset="0"/>
              <a:buChar char="•"/>
            </a:pPr>
            <a:endParaRPr lang="en-US" dirty="0">
              <a:solidFill>
                <a:schemeClr val="bg1"/>
              </a:solidFill>
            </a:endParaRPr>
          </a:p>
          <a:p>
            <a:pPr marL="285750" indent="-228600">
              <a:lnSpc>
                <a:spcPct val="90000"/>
              </a:lnSpc>
              <a:spcAft>
                <a:spcPts val="600"/>
              </a:spcAft>
              <a:buFont typeface="Arial" panose="020B0604020202020204" pitchFamily="34" charset="0"/>
              <a:buChar char="•"/>
            </a:pPr>
            <a:r>
              <a:rPr lang="en-US" b="1" dirty="0" err="1">
                <a:solidFill>
                  <a:schemeClr val="bg1"/>
                </a:solidFill>
              </a:rPr>
              <a:t>მუშაობის</a:t>
            </a:r>
            <a:r>
              <a:rPr lang="en-US" b="1" dirty="0">
                <a:solidFill>
                  <a:schemeClr val="bg1"/>
                </a:solidFill>
              </a:rPr>
              <a:t> </a:t>
            </a:r>
            <a:r>
              <a:rPr lang="en-US" b="1" dirty="0" err="1">
                <a:solidFill>
                  <a:schemeClr val="bg1"/>
                </a:solidFill>
              </a:rPr>
              <a:t>პრინციპი</a:t>
            </a:r>
            <a:r>
              <a:rPr lang="en-US" b="1" dirty="0">
                <a:solidFill>
                  <a:schemeClr val="bg1"/>
                </a:solidFill>
              </a:rPr>
              <a:t>:</a:t>
            </a:r>
            <a:r>
              <a:rPr lang="en-US" dirty="0">
                <a:solidFill>
                  <a:schemeClr val="bg1"/>
                </a:solidFill>
              </a:rPr>
              <a:t> </a:t>
            </a:r>
            <a:r>
              <a:rPr lang="en-US" dirty="0" err="1">
                <a:solidFill>
                  <a:schemeClr val="bg1"/>
                </a:solidFill>
              </a:rPr>
              <a:t>ორივე</a:t>
            </a:r>
            <a:r>
              <a:rPr lang="en-US" dirty="0">
                <a:solidFill>
                  <a:schemeClr val="bg1"/>
                </a:solidFill>
              </a:rPr>
              <a:t> </a:t>
            </a:r>
            <a:r>
              <a:rPr lang="en-US" dirty="0" err="1">
                <a:solidFill>
                  <a:schemeClr val="bg1"/>
                </a:solidFill>
              </a:rPr>
              <a:t>მხარეს</a:t>
            </a:r>
            <a:r>
              <a:rPr lang="en-US" dirty="0">
                <a:solidFill>
                  <a:schemeClr val="bg1"/>
                </a:solidFill>
              </a:rPr>
              <a:t> </a:t>
            </a:r>
            <a:r>
              <a:rPr lang="en-US" dirty="0" err="1">
                <a:solidFill>
                  <a:schemeClr val="bg1"/>
                </a:solidFill>
              </a:rPr>
              <a:t>ჰგონია</a:t>
            </a:r>
            <a:r>
              <a:rPr lang="en-US" dirty="0">
                <a:solidFill>
                  <a:schemeClr val="bg1"/>
                </a:solidFill>
              </a:rPr>
              <a:t>, </a:t>
            </a:r>
            <a:r>
              <a:rPr lang="en-US" dirty="0" err="1">
                <a:solidFill>
                  <a:schemeClr val="bg1"/>
                </a:solidFill>
              </a:rPr>
              <a:t>რომ</a:t>
            </a:r>
            <a:r>
              <a:rPr lang="en-US" dirty="0">
                <a:solidFill>
                  <a:schemeClr val="bg1"/>
                </a:solidFill>
              </a:rPr>
              <a:t> </a:t>
            </a:r>
            <a:r>
              <a:rPr lang="en-US" dirty="0" err="1">
                <a:solidFill>
                  <a:schemeClr val="bg1"/>
                </a:solidFill>
              </a:rPr>
              <a:t>ერთმანეთს</a:t>
            </a:r>
            <a:r>
              <a:rPr lang="en-US" dirty="0">
                <a:solidFill>
                  <a:schemeClr val="bg1"/>
                </a:solidFill>
              </a:rPr>
              <a:t> </a:t>
            </a:r>
            <a:r>
              <a:rPr lang="en-US" dirty="0" err="1">
                <a:solidFill>
                  <a:schemeClr val="bg1"/>
                </a:solidFill>
              </a:rPr>
              <a:t>პირდაპირ</a:t>
            </a:r>
            <a:r>
              <a:rPr lang="en-US" dirty="0">
                <a:solidFill>
                  <a:schemeClr val="bg1"/>
                </a:solidFill>
              </a:rPr>
              <a:t> </a:t>
            </a:r>
            <a:r>
              <a:rPr lang="en-US" dirty="0" err="1">
                <a:solidFill>
                  <a:schemeClr val="bg1"/>
                </a:solidFill>
              </a:rPr>
              <a:t>ესაუბრებიან</a:t>
            </a:r>
            <a:r>
              <a:rPr lang="en-US" dirty="0">
                <a:solidFill>
                  <a:schemeClr val="bg1"/>
                </a:solidFill>
              </a:rPr>
              <a:t>, </a:t>
            </a:r>
            <a:r>
              <a:rPr lang="en-US" dirty="0" err="1">
                <a:solidFill>
                  <a:schemeClr val="bg1"/>
                </a:solidFill>
              </a:rPr>
              <a:t>რეალურად</a:t>
            </a:r>
            <a:r>
              <a:rPr lang="en-US" dirty="0">
                <a:solidFill>
                  <a:schemeClr val="bg1"/>
                </a:solidFill>
              </a:rPr>
              <a:t> </a:t>
            </a:r>
            <a:r>
              <a:rPr lang="en-US" dirty="0" err="1">
                <a:solidFill>
                  <a:schemeClr val="bg1"/>
                </a:solidFill>
              </a:rPr>
              <a:t>კი</a:t>
            </a:r>
            <a:r>
              <a:rPr lang="en-US" dirty="0">
                <a:solidFill>
                  <a:schemeClr val="bg1"/>
                </a:solidFill>
              </a:rPr>
              <a:t> </a:t>
            </a:r>
            <a:r>
              <a:rPr lang="en-US" dirty="0" err="1">
                <a:solidFill>
                  <a:schemeClr val="bg1"/>
                </a:solidFill>
              </a:rPr>
              <a:t>ჰაკერი</a:t>
            </a:r>
            <a:r>
              <a:rPr lang="en-US" dirty="0">
                <a:solidFill>
                  <a:schemeClr val="bg1"/>
                </a:solidFill>
              </a:rPr>
              <a:t> </a:t>
            </a:r>
            <a:r>
              <a:rPr lang="en-US" dirty="0" err="1">
                <a:solidFill>
                  <a:schemeClr val="bg1"/>
                </a:solidFill>
              </a:rPr>
              <a:t>აკონტროლებს</a:t>
            </a:r>
            <a:r>
              <a:rPr lang="en-US" dirty="0">
                <a:solidFill>
                  <a:schemeClr val="bg1"/>
                </a:solidFill>
              </a:rPr>
              <a:t> </a:t>
            </a:r>
            <a:r>
              <a:rPr lang="en-US" dirty="0" err="1">
                <a:solidFill>
                  <a:schemeClr val="bg1"/>
                </a:solidFill>
              </a:rPr>
              <a:t>მთელ</a:t>
            </a:r>
            <a:r>
              <a:rPr lang="en-US" dirty="0">
                <a:solidFill>
                  <a:schemeClr val="bg1"/>
                </a:solidFill>
              </a:rPr>
              <a:t> </a:t>
            </a:r>
            <a:r>
              <a:rPr lang="en-US" dirty="0" err="1">
                <a:solidFill>
                  <a:schemeClr val="bg1"/>
                </a:solidFill>
              </a:rPr>
              <a:t>ტრაფიკს</a:t>
            </a:r>
            <a:r>
              <a:rPr lang="en-US" dirty="0">
                <a:solidFill>
                  <a:schemeClr val="bg1"/>
                </a:solidFill>
              </a:rPr>
              <a:t>.</a:t>
            </a:r>
          </a:p>
          <a:p>
            <a:pPr marL="285750" indent="-228600">
              <a:lnSpc>
                <a:spcPct val="90000"/>
              </a:lnSpc>
              <a:spcAft>
                <a:spcPts val="600"/>
              </a:spcAft>
              <a:buFont typeface="Arial" panose="020B0604020202020204" pitchFamily="34" charset="0"/>
              <a:buChar char="•"/>
            </a:pPr>
            <a:endParaRPr lang="en-US" dirty="0">
              <a:solidFill>
                <a:schemeClr val="bg1"/>
              </a:solidFill>
            </a:endParaRPr>
          </a:p>
          <a:p>
            <a:pPr marL="285750" indent="-228600">
              <a:lnSpc>
                <a:spcPct val="90000"/>
              </a:lnSpc>
              <a:spcAft>
                <a:spcPts val="600"/>
              </a:spcAft>
              <a:buFont typeface="Arial" panose="020B0604020202020204" pitchFamily="34" charset="0"/>
              <a:buChar char="•"/>
            </a:pPr>
            <a:r>
              <a:rPr lang="en-US" b="1" dirty="0" err="1">
                <a:solidFill>
                  <a:schemeClr val="bg1"/>
                </a:solidFill>
              </a:rPr>
              <a:t>მთავარი</a:t>
            </a:r>
            <a:r>
              <a:rPr lang="en-US" b="1" dirty="0">
                <a:solidFill>
                  <a:schemeClr val="bg1"/>
                </a:solidFill>
              </a:rPr>
              <a:t> </a:t>
            </a:r>
            <a:r>
              <a:rPr lang="en-US" b="1" dirty="0" err="1">
                <a:solidFill>
                  <a:schemeClr val="bg1"/>
                </a:solidFill>
              </a:rPr>
              <a:t>პრობლემა</a:t>
            </a:r>
            <a:r>
              <a:rPr lang="en-US" b="1" dirty="0">
                <a:solidFill>
                  <a:schemeClr val="bg1"/>
                </a:solidFill>
              </a:rPr>
              <a:t>:</a:t>
            </a:r>
            <a:r>
              <a:rPr lang="en-US" dirty="0">
                <a:solidFill>
                  <a:schemeClr val="bg1"/>
                </a:solidFill>
              </a:rPr>
              <a:t> </a:t>
            </a:r>
            <a:r>
              <a:rPr lang="en-US" dirty="0" err="1">
                <a:solidFill>
                  <a:schemeClr val="bg1"/>
                </a:solidFill>
              </a:rPr>
              <a:t>მხარეებს</a:t>
            </a:r>
            <a:r>
              <a:rPr lang="en-US" dirty="0">
                <a:solidFill>
                  <a:schemeClr val="bg1"/>
                </a:solidFill>
              </a:rPr>
              <a:t> </a:t>
            </a:r>
            <a:r>
              <a:rPr lang="en-US" dirty="0" err="1">
                <a:solidFill>
                  <a:schemeClr val="bg1"/>
                </a:solidFill>
              </a:rPr>
              <a:t>არ</a:t>
            </a:r>
            <a:r>
              <a:rPr lang="en-US" dirty="0">
                <a:solidFill>
                  <a:schemeClr val="bg1"/>
                </a:solidFill>
              </a:rPr>
              <a:t> </a:t>
            </a:r>
            <a:r>
              <a:rPr lang="en-US" dirty="0" err="1">
                <a:solidFill>
                  <a:schemeClr val="bg1"/>
                </a:solidFill>
              </a:rPr>
              <a:t>შეუძლიათ</a:t>
            </a:r>
            <a:r>
              <a:rPr lang="en-US" dirty="0">
                <a:solidFill>
                  <a:schemeClr val="bg1"/>
                </a:solidFill>
              </a:rPr>
              <a:t> </a:t>
            </a:r>
            <a:r>
              <a:rPr lang="en-US" dirty="0" err="1">
                <a:solidFill>
                  <a:schemeClr val="bg1"/>
                </a:solidFill>
              </a:rPr>
              <a:t>ერთმანეთის</a:t>
            </a:r>
            <a:r>
              <a:rPr lang="en-US" dirty="0">
                <a:solidFill>
                  <a:schemeClr val="bg1"/>
                </a:solidFill>
              </a:rPr>
              <a:t> </a:t>
            </a:r>
            <a:r>
              <a:rPr lang="en-US" dirty="0" err="1">
                <a:solidFill>
                  <a:schemeClr val="bg1"/>
                </a:solidFill>
              </a:rPr>
              <a:t>იდენტობის</a:t>
            </a:r>
            <a:r>
              <a:rPr lang="en-US" dirty="0">
                <a:solidFill>
                  <a:schemeClr val="bg1"/>
                </a:solidFill>
              </a:rPr>
              <a:t> </a:t>
            </a:r>
            <a:r>
              <a:rPr lang="en-US" dirty="0" err="1">
                <a:solidFill>
                  <a:schemeClr val="bg1"/>
                </a:solidFill>
              </a:rPr>
              <a:t>გადამოწმება</a:t>
            </a:r>
            <a:r>
              <a:rPr lang="en-US" dirty="0">
                <a:solidFill>
                  <a:schemeClr val="bg1"/>
                </a:solidFill>
              </a:rPr>
              <a:t> (</a:t>
            </a:r>
            <a:r>
              <a:rPr lang="en-US" dirty="0" err="1">
                <a:solidFill>
                  <a:schemeClr val="bg1"/>
                </a:solidFill>
              </a:rPr>
              <a:t>ავთენტიფიკაციის</a:t>
            </a:r>
            <a:r>
              <a:rPr lang="en-US" dirty="0">
                <a:solidFill>
                  <a:schemeClr val="bg1"/>
                </a:solidFill>
              </a:rPr>
              <a:t> </a:t>
            </a:r>
            <a:r>
              <a:rPr lang="en-US" dirty="0" err="1">
                <a:solidFill>
                  <a:schemeClr val="bg1"/>
                </a:solidFill>
              </a:rPr>
              <a:t>ნაკლებობა</a:t>
            </a:r>
            <a:r>
              <a:rPr lang="en-US" dirty="0">
                <a:solidFill>
                  <a:schemeClr val="bg1"/>
                </a:solidFill>
              </a:rPr>
              <a:t>).</a:t>
            </a:r>
          </a:p>
          <a:p>
            <a:pPr indent="-228600">
              <a:lnSpc>
                <a:spcPct val="90000"/>
              </a:lnSpc>
              <a:spcAft>
                <a:spcPts val="600"/>
              </a:spcAft>
              <a:buFont typeface="Arial" panose="020B0604020202020204" pitchFamily="34" charset="0"/>
              <a:buChar char="•"/>
            </a:pPr>
            <a:endParaRPr lang="en-US" sz="1300">
              <a:solidFill>
                <a:schemeClr val="bg1">
                  <a:alpha val="80000"/>
                </a:schemeClr>
              </a:solidFill>
            </a:endParaRPr>
          </a:p>
          <a:p>
            <a:pPr indent="-228600">
              <a:lnSpc>
                <a:spcPct val="90000"/>
              </a:lnSpc>
              <a:spcAft>
                <a:spcPts val="600"/>
              </a:spcAft>
              <a:buFont typeface="Arial" panose="020B0604020202020204" pitchFamily="34" charset="0"/>
              <a:buChar char="•"/>
            </a:pPr>
            <a:endParaRPr lang="en-US" sz="1300">
              <a:solidFill>
                <a:schemeClr val="bg1">
                  <a:alpha val="80000"/>
                </a:schemeClr>
              </a:solidFill>
            </a:endParaRPr>
          </a:p>
          <a:p>
            <a:pPr indent="-228600">
              <a:lnSpc>
                <a:spcPct val="90000"/>
              </a:lnSpc>
              <a:spcAft>
                <a:spcPts val="600"/>
              </a:spcAft>
              <a:buFont typeface="Arial" panose="020B0604020202020204" pitchFamily="34" charset="0"/>
              <a:buChar char="•"/>
            </a:pPr>
            <a:endParaRPr lang="en-US" sz="1300">
              <a:solidFill>
                <a:schemeClr val="bg1">
                  <a:alpha val="80000"/>
                </a:schemeClr>
              </a:solidFill>
            </a:endParaRPr>
          </a:p>
        </p:txBody>
      </p:sp>
      <p:pic>
        <p:nvPicPr>
          <p:cNvPr id="3" name="Picture 2" descr="End-to-end Encryption">
            <a:extLst>
              <a:ext uri="{FF2B5EF4-FFF2-40B4-BE49-F238E27FC236}">
                <a16:creationId xmlns:a16="http://schemas.microsoft.com/office/drawing/2014/main" id="{9D89A5AF-8A46-6FC2-641A-4F0F0F262E64}"/>
              </a:ext>
            </a:extLst>
          </p:cNvPr>
          <p:cNvPicPr>
            <a:picLocks noChangeAspect="1"/>
          </p:cNvPicPr>
          <p:nvPr/>
        </p:nvPicPr>
        <p:blipFill>
          <a:blip r:embed="rId2"/>
          <a:stretch>
            <a:fillRect/>
          </a:stretch>
        </p:blipFill>
        <p:spPr>
          <a:xfrm>
            <a:off x="6095999" y="1482656"/>
            <a:ext cx="5260976" cy="3853664"/>
          </a:xfrm>
          <a:prstGeom prst="rect">
            <a:avLst/>
          </a:prstGeom>
        </p:spPr>
      </p:pic>
    </p:spTree>
    <p:extLst>
      <p:ext uri="{BB962C8B-B14F-4D97-AF65-F5344CB8AC3E}">
        <p14:creationId xmlns:p14="http://schemas.microsoft.com/office/powerpoint/2010/main" val="2498024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303DB7-D17F-FB50-ACDB-48375D5AFF08}"/>
              </a:ext>
            </a:extLst>
          </p:cNvPr>
          <p:cNvSpPr>
            <a:spLocks noGrp="1"/>
          </p:cNvSpPr>
          <p:nvPr>
            <p:ph type="title"/>
          </p:nvPr>
        </p:nvSpPr>
        <p:spPr>
          <a:xfrm>
            <a:off x="838200" y="619557"/>
            <a:ext cx="5896440" cy="1806658"/>
          </a:xfrm>
        </p:spPr>
        <p:txBody>
          <a:bodyPr vert="horz" lIns="91440" tIns="45720" rIns="91440" bIns="45720" rtlCol="0" anchor="t">
            <a:normAutofit fontScale="90000"/>
          </a:bodyPr>
          <a:lstStyle/>
          <a:p>
            <a:r>
              <a:rPr lang="en-US" kern="1200" dirty="0" err="1">
                <a:solidFill>
                  <a:schemeClr val="bg1"/>
                </a:solidFill>
                <a:latin typeface="+mj-lt"/>
                <a:ea typeface="+mj-ea"/>
                <a:cs typeface="+mj-cs"/>
              </a:rPr>
              <a:t>ტექნიკური</a:t>
            </a:r>
            <a:r>
              <a:rPr lang="en-US" kern="1200" dirty="0">
                <a:solidFill>
                  <a:schemeClr val="bg1"/>
                </a:solidFill>
                <a:latin typeface="+mj-lt"/>
                <a:ea typeface="+mj-ea"/>
                <a:cs typeface="+mj-cs"/>
              </a:rPr>
              <a:t> </a:t>
            </a:r>
            <a:r>
              <a:rPr lang="en-US" kern="1200" dirty="0" err="1">
                <a:solidFill>
                  <a:schemeClr val="bg1"/>
                </a:solidFill>
                <a:latin typeface="+mj-lt"/>
                <a:ea typeface="+mj-ea"/>
                <a:cs typeface="+mj-cs"/>
              </a:rPr>
              <a:t>მექანიზმი</a:t>
            </a:r>
            <a:r>
              <a:rPr lang="en-US" kern="1200" dirty="0">
                <a:solidFill>
                  <a:schemeClr val="bg1"/>
                </a:solidFill>
                <a:latin typeface="+mj-lt"/>
                <a:ea typeface="+mj-ea"/>
                <a:cs typeface="+mj-cs"/>
              </a:rPr>
              <a:t>: </a:t>
            </a:r>
            <a:r>
              <a:rPr lang="en-US" kern="1200" dirty="0" err="1">
                <a:solidFill>
                  <a:schemeClr val="bg1"/>
                </a:solidFill>
                <a:latin typeface="+mj-lt"/>
                <a:ea typeface="+mj-ea"/>
                <a:cs typeface="+mj-cs"/>
              </a:rPr>
              <a:t>ჩაჭრა</a:t>
            </a:r>
            <a:r>
              <a:rPr lang="en-US" kern="1200" dirty="0">
                <a:solidFill>
                  <a:schemeClr val="bg1"/>
                </a:solidFill>
                <a:latin typeface="+mj-lt"/>
                <a:ea typeface="+mj-ea"/>
                <a:cs typeface="+mj-cs"/>
              </a:rPr>
              <a:t> </a:t>
            </a:r>
            <a:r>
              <a:rPr lang="en-US" kern="1200" dirty="0" err="1">
                <a:solidFill>
                  <a:schemeClr val="bg1"/>
                </a:solidFill>
                <a:latin typeface="+mj-lt"/>
                <a:ea typeface="+mj-ea"/>
                <a:cs typeface="+mj-cs"/>
              </a:rPr>
              <a:t>და</a:t>
            </a:r>
            <a:r>
              <a:rPr lang="en-US" kern="1200" dirty="0">
                <a:solidFill>
                  <a:schemeClr val="bg1"/>
                </a:solidFill>
                <a:latin typeface="+mj-lt"/>
                <a:ea typeface="+mj-ea"/>
                <a:cs typeface="+mj-cs"/>
              </a:rPr>
              <a:t> </a:t>
            </a:r>
            <a:r>
              <a:rPr lang="en-US" kern="1200" dirty="0" err="1">
                <a:solidFill>
                  <a:schemeClr val="bg1"/>
                </a:solidFill>
                <a:latin typeface="+mj-lt"/>
                <a:ea typeface="+mj-ea"/>
                <a:cs typeface="+mj-cs"/>
              </a:rPr>
              <a:t>დეკრიპტაცი</a:t>
            </a:r>
            <a:r>
              <a:rPr lang="en-US" sz="3100" kern="1200" dirty="0" err="1">
                <a:solidFill>
                  <a:schemeClr val="bg1"/>
                </a:solidFill>
                <a:latin typeface="+mj-lt"/>
                <a:ea typeface="+mj-ea"/>
                <a:cs typeface="+mj-cs"/>
              </a:rPr>
              <a:t>ა</a:t>
            </a:r>
            <a:endParaRPr lang="en-US" sz="3100" kern="1200">
              <a:solidFill>
                <a:schemeClr val="bg1"/>
              </a:solidFill>
              <a:latin typeface="+mj-lt"/>
            </a:endParaRPr>
          </a:p>
        </p:txBody>
      </p:sp>
      <p:sp>
        <p:nvSpPr>
          <p:cNvPr id="4" name="TextBox 3">
            <a:extLst>
              <a:ext uri="{FF2B5EF4-FFF2-40B4-BE49-F238E27FC236}">
                <a16:creationId xmlns:a16="http://schemas.microsoft.com/office/drawing/2014/main" id="{F83ADF43-8D5F-93A5-7CCB-BFE605B952B4}"/>
              </a:ext>
            </a:extLst>
          </p:cNvPr>
          <p:cNvSpPr txBox="1"/>
          <p:nvPr/>
        </p:nvSpPr>
        <p:spPr>
          <a:xfrm>
            <a:off x="838200" y="2105620"/>
            <a:ext cx="4391025" cy="326276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228600" indent="-228600">
              <a:lnSpc>
                <a:spcPct val="90000"/>
              </a:lnSpc>
              <a:spcAft>
                <a:spcPts val="600"/>
              </a:spcAft>
              <a:buFont typeface="Arial" panose="020B0604020202020204" pitchFamily="34" charset="0"/>
              <a:buChar char="•"/>
            </a:pPr>
            <a:r>
              <a:rPr lang="en-US" b="1" dirty="0" err="1">
                <a:solidFill>
                  <a:schemeClr val="bg1"/>
                </a:solidFill>
              </a:rPr>
              <a:t>ეტაპი</a:t>
            </a:r>
            <a:r>
              <a:rPr lang="en-US" b="1" dirty="0">
                <a:solidFill>
                  <a:schemeClr val="bg1"/>
                </a:solidFill>
              </a:rPr>
              <a:t> 1 - </a:t>
            </a:r>
            <a:r>
              <a:rPr lang="en-US" b="1" dirty="0" err="1">
                <a:solidFill>
                  <a:schemeClr val="bg1"/>
                </a:solidFill>
              </a:rPr>
              <a:t>ჩაჭრა</a:t>
            </a:r>
            <a:r>
              <a:rPr lang="en-US" b="1" dirty="0">
                <a:solidFill>
                  <a:schemeClr val="bg1"/>
                </a:solidFill>
              </a:rPr>
              <a:t>:</a:t>
            </a:r>
            <a:r>
              <a:rPr lang="en-US" dirty="0">
                <a:solidFill>
                  <a:schemeClr val="bg1"/>
                </a:solidFill>
              </a:rPr>
              <a:t> </a:t>
            </a:r>
            <a:r>
              <a:rPr lang="en-US" dirty="0" err="1">
                <a:solidFill>
                  <a:schemeClr val="bg1"/>
                </a:solidFill>
              </a:rPr>
              <a:t>გამოიყენება</a:t>
            </a:r>
            <a:r>
              <a:rPr lang="en-US" dirty="0">
                <a:solidFill>
                  <a:schemeClr val="bg1"/>
                </a:solidFill>
              </a:rPr>
              <a:t> </a:t>
            </a:r>
            <a:r>
              <a:rPr lang="en-US" b="1" dirty="0">
                <a:solidFill>
                  <a:schemeClr val="bg1"/>
                </a:solidFill>
              </a:rPr>
              <a:t>ARP Spoofing</a:t>
            </a:r>
            <a:r>
              <a:rPr lang="en-US" dirty="0">
                <a:solidFill>
                  <a:schemeClr val="bg1"/>
                </a:solidFill>
              </a:rPr>
              <a:t> (</a:t>
            </a:r>
            <a:r>
              <a:rPr lang="en-US" dirty="0" err="1">
                <a:solidFill>
                  <a:schemeClr val="bg1"/>
                </a:solidFill>
              </a:rPr>
              <a:t>ლოკალურ</a:t>
            </a:r>
            <a:r>
              <a:rPr lang="en-US" dirty="0">
                <a:solidFill>
                  <a:schemeClr val="bg1"/>
                </a:solidFill>
              </a:rPr>
              <a:t> </a:t>
            </a:r>
            <a:r>
              <a:rPr lang="en-US" dirty="0" err="1">
                <a:solidFill>
                  <a:schemeClr val="bg1"/>
                </a:solidFill>
              </a:rPr>
              <a:t>ქსელში</a:t>
            </a:r>
            <a:r>
              <a:rPr lang="en-US" dirty="0">
                <a:solidFill>
                  <a:schemeClr val="bg1"/>
                </a:solidFill>
              </a:rPr>
              <a:t> </a:t>
            </a:r>
            <a:r>
              <a:rPr lang="en-US" dirty="0" err="1">
                <a:solidFill>
                  <a:schemeClr val="bg1"/>
                </a:solidFill>
              </a:rPr>
              <a:t>ტრაფიკის</a:t>
            </a:r>
            <a:r>
              <a:rPr lang="en-US" dirty="0">
                <a:solidFill>
                  <a:schemeClr val="bg1"/>
                </a:solidFill>
              </a:rPr>
              <a:t> </a:t>
            </a:r>
            <a:r>
              <a:rPr lang="en-US" dirty="0" err="1">
                <a:solidFill>
                  <a:schemeClr val="bg1"/>
                </a:solidFill>
              </a:rPr>
              <a:t>თავისკენ</a:t>
            </a:r>
            <a:r>
              <a:rPr lang="en-US" dirty="0">
                <a:solidFill>
                  <a:schemeClr val="bg1"/>
                </a:solidFill>
              </a:rPr>
              <a:t> </a:t>
            </a:r>
            <a:r>
              <a:rPr lang="en-US" dirty="0" err="1">
                <a:solidFill>
                  <a:schemeClr val="bg1"/>
                </a:solidFill>
              </a:rPr>
              <a:t>წამოღება</a:t>
            </a:r>
            <a:r>
              <a:rPr lang="en-US" dirty="0">
                <a:solidFill>
                  <a:schemeClr val="bg1"/>
                </a:solidFill>
              </a:rPr>
              <a:t>) </a:t>
            </a:r>
            <a:r>
              <a:rPr lang="en-US" dirty="0" err="1">
                <a:solidFill>
                  <a:schemeClr val="bg1"/>
                </a:solidFill>
              </a:rPr>
              <a:t>ან</a:t>
            </a:r>
            <a:r>
              <a:rPr lang="en-US" dirty="0">
                <a:solidFill>
                  <a:schemeClr val="bg1"/>
                </a:solidFill>
              </a:rPr>
              <a:t> </a:t>
            </a:r>
            <a:r>
              <a:rPr lang="en-US" b="1" dirty="0">
                <a:solidFill>
                  <a:schemeClr val="bg1"/>
                </a:solidFill>
              </a:rPr>
              <a:t>DNS Hijacking</a:t>
            </a:r>
            <a:r>
              <a:rPr lang="en-US" dirty="0">
                <a:solidFill>
                  <a:schemeClr val="bg1"/>
                </a:solidFill>
              </a:rPr>
              <a:t> (</a:t>
            </a:r>
            <a:r>
              <a:rPr lang="en-US" dirty="0" err="1">
                <a:solidFill>
                  <a:schemeClr val="bg1"/>
                </a:solidFill>
              </a:rPr>
              <a:t>მომხმარებლის</a:t>
            </a:r>
            <a:r>
              <a:rPr lang="en-US" dirty="0">
                <a:solidFill>
                  <a:schemeClr val="bg1"/>
                </a:solidFill>
              </a:rPr>
              <a:t> </a:t>
            </a:r>
            <a:r>
              <a:rPr lang="en-US" dirty="0" err="1">
                <a:solidFill>
                  <a:schemeClr val="bg1"/>
                </a:solidFill>
              </a:rPr>
              <a:t>გადაყვანა</a:t>
            </a:r>
            <a:r>
              <a:rPr lang="en-US" dirty="0">
                <a:solidFill>
                  <a:schemeClr val="bg1"/>
                </a:solidFill>
              </a:rPr>
              <a:t> </a:t>
            </a:r>
            <a:r>
              <a:rPr lang="en-US" dirty="0" err="1">
                <a:solidFill>
                  <a:schemeClr val="bg1"/>
                </a:solidFill>
              </a:rPr>
              <a:t>ყალბ</a:t>
            </a:r>
            <a:r>
              <a:rPr lang="en-US" dirty="0">
                <a:solidFill>
                  <a:schemeClr val="bg1"/>
                </a:solidFill>
              </a:rPr>
              <a:t> </a:t>
            </a:r>
            <a:r>
              <a:rPr lang="en-US" dirty="0" err="1">
                <a:solidFill>
                  <a:schemeClr val="bg1"/>
                </a:solidFill>
              </a:rPr>
              <a:t>საიტზე</a:t>
            </a:r>
            <a:r>
              <a:rPr lang="en-US" dirty="0">
                <a:solidFill>
                  <a:schemeClr val="bg1"/>
                </a:solidFill>
              </a:rPr>
              <a:t>).</a:t>
            </a:r>
          </a:p>
          <a:p>
            <a:pPr marL="228600" indent="-228600">
              <a:lnSpc>
                <a:spcPct val="90000"/>
              </a:lnSpc>
              <a:spcAft>
                <a:spcPts val="600"/>
              </a:spcAft>
              <a:buFont typeface="Arial" panose="020B0604020202020204" pitchFamily="34" charset="0"/>
              <a:buChar char="•"/>
            </a:pPr>
            <a:endParaRPr lang="en-US" dirty="0">
              <a:solidFill>
                <a:schemeClr val="bg1"/>
              </a:solidFill>
            </a:endParaRPr>
          </a:p>
          <a:p>
            <a:pPr marL="228600" indent="-228600">
              <a:lnSpc>
                <a:spcPct val="90000"/>
              </a:lnSpc>
              <a:spcAft>
                <a:spcPts val="600"/>
              </a:spcAft>
              <a:buFont typeface="Arial" panose="020B0604020202020204" pitchFamily="34" charset="0"/>
              <a:buChar char="•"/>
            </a:pPr>
            <a:r>
              <a:rPr lang="en-US" b="1" dirty="0" err="1">
                <a:solidFill>
                  <a:schemeClr val="bg1"/>
                </a:solidFill>
              </a:rPr>
              <a:t>ეტაპი</a:t>
            </a:r>
            <a:r>
              <a:rPr lang="en-US" b="1" dirty="0">
                <a:solidFill>
                  <a:schemeClr val="bg1"/>
                </a:solidFill>
              </a:rPr>
              <a:t> 2 - </a:t>
            </a:r>
            <a:r>
              <a:rPr lang="en-US" b="1" dirty="0" err="1">
                <a:solidFill>
                  <a:schemeClr val="bg1"/>
                </a:solidFill>
              </a:rPr>
              <a:t>გაშიფვრა</a:t>
            </a:r>
            <a:r>
              <a:rPr lang="en-US" b="1" dirty="0">
                <a:solidFill>
                  <a:schemeClr val="bg1"/>
                </a:solidFill>
              </a:rPr>
              <a:t>:</a:t>
            </a:r>
            <a:r>
              <a:rPr lang="en-US" dirty="0">
                <a:solidFill>
                  <a:schemeClr val="bg1"/>
                </a:solidFill>
              </a:rPr>
              <a:t> </a:t>
            </a:r>
            <a:r>
              <a:rPr lang="en-US" dirty="0" err="1">
                <a:solidFill>
                  <a:schemeClr val="bg1"/>
                </a:solidFill>
              </a:rPr>
              <a:t>თუ</a:t>
            </a:r>
            <a:r>
              <a:rPr lang="en-US" dirty="0">
                <a:solidFill>
                  <a:schemeClr val="bg1"/>
                </a:solidFill>
              </a:rPr>
              <a:t> </a:t>
            </a:r>
            <a:r>
              <a:rPr lang="en-US" dirty="0" err="1">
                <a:solidFill>
                  <a:schemeClr val="bg1"/>
                </a:solidFill>
              </a:rPr>
              <a:t>კავშირი</a:t>
            </a:r>
            <a:r>
              <a:rPr lang="en-US" dirty="0">
                <a:solidFill>
                  <a:schemeClr val="bg1"/>
                </a:solidFill>
              </a:rPr>
              <a:t> </a:t>
            </a:r>
            <a:r>
              <a:rPr lang="en-US" dirty="0" err="1">
                <a:solidFill>
                  <a:schemeClr val="bg1"/>
                </a:solidFill>
              </a:rPr>
              <a:t>დაშიფრულია</a:t>
            </a:r>
            <a:r>
              <a:rPr lang="en-US" dirty="0">
                <a:solidFill>
                  <a:schemeClr val="bg1"/>
                </a:solidFill>
              </a:rPr>
              <a:t> (HTTPS), </a:t>
            </a:r>
            <a:r>
              <a:rPr lang="en-US" dirty="0" err="1">
                <a:solidFill>
                  <a:schemeClr val="bg1"/>
                </a:solidFill>
              </a:rPr>
              <a:t>გამოიყენება</a:t>
            </a:r>
            <a:r>
              <a:rPr lang="en-US" dirty="0">
                <a:solidFill>
                  <a:schemeClr val="bg1"/>
                </a:solidFill>
              </a:rPr>
              <a:t> </a:t>
            </a:r>
            <a:r>
              <a:rPr lang="en-US" b="1" dirty="0">
                <a:solidFill>
                  <a:schemeClr val="bg1"/>
                </a:solidFill>
              </a:rPr>
              <a:t>SSL Stripping</a:t>
            </a:r>
            <a:r>
              <a:rPr lang="en-US" dirty="0">
                <a:solidFill>
                  <a:schemeClr val="bg1"/>
                </a:solidFill>
              </a:rPr>
              <a:t>. </a:t>
            </a:r>
            <a:r>
              <a:rPr lang="en-US" dirty="0" err="1">
                <a:solidFill>
                  <a:schemeClr val="bg1"/>
                </a:solidFill>
              </a:rPr>
              <a:t>ეს</a:t>
            </a:r>
            <a:r>
              <a:rPr lang="en-US" dirty="0">
                <a:solidFill>
                  <a:schemeClr val="bg1"/>
                </a:solidFill>
              </a:rPr>
              <a:t> </a:t>
            </a:r>
            <a:r>
              <a:rPr lang="en-US" dirty="0" err="1">
                <a:solidFill>
                  <a:schemeClr val="bg1"/>
                </a:solidFill>
              </a:rPr>
              <a:t>მეთოდი</a:t>
            </a:r>
            <a:r>
              <a:rPr lang="en-US" dirty="0">
                <a:solidFill>
                  <a:schemeClr val="bg1"/>
                </a:solidFill>
              </a:rPr>
              <a:t> </a:t>
            </a:r>
            <a:r>
              <a:rPr lang="en-US" dirty="0" err="1">
                <a:solidFill>
                  <a:schemeClr val="bg1"/>
                </a:solidFill>
              </a:rPr>
              <a:t>აიძულებს</a:t>
            </a:r>
            <a:r>
              <a:rPr lang="en-US" dirty="0">
                <a:solidFill>
                  <a:schemeClr val="bg1"/>
                </a:solidFill>
              </a:rPr>
              <a:t> </a:t>
            </a:r>
            <a:r>
              <a:rPr lang="en-US" dirty="0" err="1">
                <a:solidFill>
                  <a:schemeClr val="bg1"/>
                </a:solidFill>
              </a:rPr>
              <a:t>ბრაუზერს</a:t>
            </a:r>
            <a:r>
              <a:rPr lang="en-US" dirty="0">
                <a:solidFill>
                  <a:schemeClr val="bg1"/>
                </a:solidFill>
              </a:rPr>
              <a:t> </a:t>
            </a:r>
            <a:r>
              <a:rPr lang="en-US" dirty="0" err="1">
                <a:solidFill>
                  <a:schemeClr val="bg1"/>
                </a:solidFill>
              </a:rPr>
              <a:t>გადავიდეს</a:t>
            </a:r>
            <a:r>
              <a:rPr lang="en-US" dirty="0">
                <a:solidFill>
                  <a:schemeClr val="bg1"/>
                </a:solidFill>
              </a:rPr>
              <a:t> </a:t>
            </a:r>
            <a:r>
              <a:rPr lang="en-US" dirty="0" err="1">
                <a:solidFill>
                  <a:schemeClr val="bg1"/>
                </a:solidFill>
              </a:rPr>
              <a:t>დაუცველ</a:t>
            </a:r>
            <a:r>
              <a:rPr lang="en-US" dirty="0">
                <a:solidFill>
                  <a:schemeClr val="bg1"/>
                </a:solidFill>
              </a:rPr>
              <a:t> HTTP </a:t>
            </a:r>
            <a:r>
              <a:rPr lang="en-US" dirty="0" err="1">
                <a:solidFill>
                  <a:schemeClr val="bg1"/>
                </a:solidFill>
              </a:rPr>
              <a:t>რეჟიმში</a:t>
            </a:r>
            <a:r>
              <a:rPr lang="en-US" dirty="0">
                <a:solidFill>
                  <a:schemeClr val="bg1"/>
                </a:solidFill>
              </a:rPr>
              <a:t>, </a:t>
            </a:r>
            <a:r>
              <a:rPr lang="en-US" dirty="0" err="1">
                <a:solidFill>
                  <a:schemeClr val="bg1"/>
                </a:solidFill>
              </a:rPr>
              <a:t>სადაც</a:t>
            </a:r>
            <a:r>
              <a:rPr lang="en-US" dirty="0">
                <a:solidFill>
                  <a:schemeClr val="bg1"/>
                </a:solidFill>
              </a:rPr>
              <a:t> </a:t>
            </a:r>
            <a:r>
              <a:rPr lang="en-US" dirty="0" err="1">
                <a:solidFill>
                  <a:schemeClr val="bg1"/>
                </a:solidFill>
              </a:rPr>
              <a:t>მონაცემები</a:t>
            </a:r>
            <a:r>
              <a:rPr lang="en-US" dirty="0">
                <a:solidFill>
                  <a:schemeClr val="bg1"/>
                </a:solidFill>
              </a:rPr>
              <a:t> </a:t>
            </a:r>
            <a:r>
              <a:rPr lang="en-US" dirty="0" err="1">
                <a:solidFill>
                  <a:schemeClr val="bg1"/>
                </a:solidFill>
              </a:rPr>
              <a:t>ღიად</a:t>
            </a:r>
            <a:r>
              <a:rPr lang="en-US" dirty="0">
                <a:solidFill>
                  <a:schemeClr val="bg1"/>
                </a:solidFill>
              </a:rPr>
              <a:t> </a:t>
            </a:r>
            <a:r>
              <a:rPr lang="en-US" dirty="0" err="1">
                <a:solidFill>
                  <a:schemeClr val="bg1"/>
                </a:solidFill>
              </a:rPr>
              <a:t>ჩანს</a:t>
            </a:r>
            <a:r>
              <a:rPr lang="en-US" dirty="0">
                <a:solidFill>
                  <a:schemeClr val="bg1"/>
                </a:solidFill>
              </a:rPr>
              <a:t>.</a:t>
            </a:r>
          </a:p>
          <a:p>
            <a:pPr indent="-228600">
              <a:lnSpc>
                <a:spcPct val="90000"/>
              </a:lnSpc>
              <a:spcAft>
                <a:spcPts val="600"/>
              </a:spcAft>
              <a:buFont typeface="Arial" panose="020B0604020202020204" pitchFamily="34" charset="0"/>
              <a:buChar char="•"/>
            </a:pPr>
            <a:endParaRPr lang="en-US" sz="1500">
              <a:solidFill>
                <a:schemeClr val="bg1">
                  <a:alpha val="80000"/>
                </a:schemeClr>
              </a:solidFill>
            </a:endParaRPr>
          </a:p>
        </p:txBody>
      </p:sp>
      <p:pic>
        <p:nvPicPr>
          <p:cNvPr id="5" name="Picture 4" descr="End-to-End Encryption: Protecting Apps from Cyber Threats | Updated 2026">
            <a:extLst>
              <a:ext uri="{FF2B5EF4-FFF2-40B4-BE49-F238E27FC236}">
                <a16:creationId xmlns:a16="http://schemas.microsoft.com/office/drawing/2014/main" id="{5DA82AC2-6983-40BF-EBB8-61C08F97248E}"/>
              </a:ext>
            </a:extLst>
          </p:cNvPr>
          <p:cNvPicPr>
            <a:picLocks noChangeAspect="1"/>
          </p:cNvPicPr>
          <p:nvPr/>
        </p:nvPicPr>
        <p:blipFill>
          <a:blip r:embed="rId2"/>
          <a:stretch>
            <a:fillRect/>
          </a:stretch>
        </p:blipFill>
        <p:spPr>
          <a:xfrm>
            <a:off x="6095999" y="2107462"/>
            <a:ext cx="5260976" cy="2604051"/>
          </a:xfrm>
          <a:prstGeom prst="rect">
            <a:avLst/>
          </a:prstGeom>
        </p:spPr>
      </p:pic>
    </p:spTree>
    <p:extLst>
      <p:ext uri="{BB962C8B-B14F-4D97-AF65-F5344CB8AC3E}">
        <p14:creationId xmlns:p14="http://schemas.microsoft.com/office/powerpoint/2010/main" val="2131140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A31A69-9F35-7B44-8C37-7F519F00DBE3}"/>
              </a:ext>
            </a:extLst>
          </p:cNvPr>
          <p:cNvSpPr>
            <a:spLocks noGrp="1"/>
          </p:cNvSpPr>
          <p:nvPr>
            <p:ph type="title"/>
          </p:nvPr>
        </p:nvSpPr>
        <p:spPr>
          <a:xfrm>
            <a:off x="416560" y="197802"/>
            <a:ext cx="9885680" cy="1508598"/>
          </a:xfrm>
        </p:spPr>
        <p:txBody>
          <a:bodyPr vert="horz" lIns="91440" tIns="45720" rIns="91440" bIns="45720" rtlCol="0" anchor="b">
            <a:normAutofit/>
          </a:bodyPr>
          <a:lstStyle/>
          <a:p>
            <a:r>
              <a:rPr lang="en-US" sz="4000" dirty="0" err="1">
                <a:solidFill>
                  <a:srgbClr val="FFFFFF"/>
                </a:solidFill>
              </a:rPr>
              <a:t>პრაქტიკული</a:t>
            </a:r>
            <a:r>
              <a:rPr lang="en-US" sz="4000" dirty="0">
                <a:solidFill>
                  <a:srgbClr val="FFFFFF"/>
                </a:solidFill>
              </a:rPr>
              <a:t> </a:t>
            </a:r>
            <a:r>
              <a:rPr lang="en-US" sz="4000" dirty="0" err="1">
                <a:solidFill>
                  <a:srgbClr val="FFFFFF"/>
                </a:solidFill>
              </a:rPr>
              <a:t>მაგალითი</a:t>
            </a:r>
            <a:r>
              <a:rPr lang="en-US" sz="4000" dirty="0">
                <a:solidFill>
                  <a:srgbClr val="FFFFFF"/>
                </a:solidFill>
              </a:rPr>
              <a:t>: "</a:t>
            </a:r>
            <a:r>
              <a:rPr lang="en-US" sz="4000" dirty="0" err="1">
                <a:solidFill>
                  <a:srgbClr val="FFFFFF"/>
                </a:solidFill>
              </a:rPr>
              <a:t>ბოროტი</a:t>
            </a:r>
            <a:r>
              <a:rPr lang="en-US" sz="4000" dirty="0">
                <a:solidFill>
                  <a:srgbClr val="FFFFFF"/>
                </a:solidFill>
              </a:rPr>
              <a:t> </a:t>
            </a:r>
            <a:r>
              <a:rPr lang="en-US" sz="4000" dirty="0" err="1">
                <a:solidFill>
                  <a:srgbClr val="FFFFFF"/>
                </a:solidFill>
              </a:rPr>
              <a:t>ტყუპი</a:t>
            </a:r>
            <a:r>
              <a:rPr lang="en-US" sz="4000" dirty="0">
                <a:solidFill>
                  <a:srgbClr val="FFFFFF"/>
                </a:solidFill>
              </a:rPr>
              <a:t>" (Evil Twin)</a:t>
            </a:r>
            <a:endParaRPr lang="en-US" sz="4000" dirty="0"/>
          </a:p>
        </p:txBody>
      </p:sp>
      <p:sp>
        <p:nvSpPr>
          <p:cNvPr id="4" name="TextBox 3">
            <a:extLst>
              <a:ext uri="{FF2B5EF4-FFF2-40B4-BE49-F238E27FC236}">
                <a16:creationId xmlns:a16="http://schemas.microsoft.com/office/drawing/2014/main" id="{E0020D46-82D5-F4AF-B19B-47DD86AE26B1}"/>
              </a:ext>
            </a:extLst>
          </p:cNvPr>
          <p:cNvSpPr txBox="1"/>
          <p:nvPr/>
        </p:nvSpPr>
        <p:spPr>
          <a:xfrm>
            <a:off x="416560" y="2279804"/>
            <a:ext cx="5811520" cy="216519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nSpc>
                <a:spcPct val="90000"/>
              </a:lnSpc>
              <a:spcBef>
                <a:spcPts val="1000"/>
              </a:spcBef>
              <a:spcAft>
                <a:spcPts val="600"/>
              </a:spcAft>
            </a:pPr>
            <a:r>
              <a:rPr lang="en-US" b="1" dirty="0" err="1">
                <a:solidFill>
                  <a:srgbClr val="FFFFFF"/>
                </a:solidFill>
              </a:rPr>
              <a:t>სცენარი</a:t>
            </a:r>
            <a:r>
              <a:rPr lang="en-US" b="1" dirty="0">
                <a:solidFill>
                  <a:srgbClr val="FFFFFF"/>
                </a:solidFill>
              </a:rPr>
              <a:t>:</a:t>
            </a:r>
            <a:r>
              <a:rPr lang="en-US" dirty="0">
                <a:solidFill>
                  <a:srgbClr val="FFFFFF"/>
                </a:solidFill>
              </a:rPr>
              <a:t> </a:t>
            </a:r>
            <a:r>
              <a:rPr lang="en-US" dirty="0" err="1">
                <a:solidFill>
                  <a:srgbClr val="FFFFFF"/>
                </a:solidFill>
              </a:rPr>
              <a:t>ჰაკერი</a:t>
            </a:r>
            <a:r>
              <a:rPr lang="en-US" dirty="0">
                <a:solidFill>
                  <a:srgbClr val="FFFFFF"/>
                </a:solidFill>
              </a:rPr>
              <a:t> </a:t>
            </a:r>
            <a:r>
              <a:rPr lang="en-US" dirty="0" err="1">
                <a:solidFill>
                  <a:srgbClr val="FFFFFF"/>
                </a:solidFill>
              </a:rPr>
              <a:t>ქმნის</a:t>
            </a:r>
            <a:r>
              <a:rPr lang="en-US" dirty="0">
                <a:solidFill>
                  <a:srgbClr val="FFFFFF"/>
                </a:solidFill>
              </a:rPr>
              <a:t> </a:t>
            </a:r>
            <a:r>
              <a:rPr lang="en-US" dirty="0" err="1">
                <a:solidFill>
                  <a:srgbClr val="FFFFFF"/>
                </a:solidFill>
              </a:rPr>
              <a:t>ყალბ</a:t>
            </a:r>
            <a:r>
              <a:rPr lang="en-US" dirty="0">
                <a:solidFill>
                  <a:srgbClr val="FFFFFF"/>
                </a:solidFill>
              </a:rPr>
              <a:t> </a:t>
            </a:r>
            <a:r>
              <a:rPr lang="en-US" dirty="0" err="1">
                <a:solidFill>
                  <a:srgbClr val="FFFFFF"/>
                </a:solidFill>
              </a:rPr>
              <a:t>WiFi</a:t>
            </a:r>
            <a:r>
              <a:rPr lang="en-US" dirty="0">
                <a:solidFill>
                  <a:srgbClr val="FFFFFF"/>
                </a:solidFill>
              </a:rPr>
              <a:t> </a:t>
            </a:r>
            <a:r>
              <a:rPr lang="en-US" dirty="0" err="1">
                <a:solidFill>
                  <a:srgbClr val="FFFFFF"/>
                </a:solidFill>
              </a:rPr>
              <a:t>წერტილს</a:t>
            </a:r>
            <a:r>
              <a:rPr lang="en-US" dirty="0">
                <a:solidFill>
                  <a:srgbClr val="FFFFFF"/>
                </a:solidFill>
              </a:rPr>
              <a:t> </a:t>
            </a:r>
            <a:r>
              <a:rPr lang="en-US" dirty="0" err="1">
                <a:solidFill>
                  <a:srgbClr val="FFFFFF"/>
                </a:solidFill>
              </a:rPr>
              <a:t>საჯარო</a:t>
            </a:r>
            <a:r>
              <a:rPr lang="en-US" dirty="0">
                <a:solidFill>
                  <a:srgbClr val="FFFFFF"/>
                </a:solidFill>
              </a:rPr>
              <a:t> </a:t>
            </a:r>
            <a:r>
              <a:rPr lang="en-US" dirty="0" err="1">
                <a:solidFill>
                  <a:srgbClr val="FFFFFF"/>
                </a:solidFill>
              </a:rPr>
              <a:t>ადგილას</a:t>
            </a:r>
            <a:r>
              <a:rPr lang="en-US" dirty="0">
                <a:solidFill>
                  <a:srgbClr val="FFFFFF"/>
                </a:solidFill>
              </a:rPr>
              <a:t> (</a:t>
            </a:r>
            <a:r>
              <a:rPr lang="en-US" dirty="0" err="1">
                <a:solidFill>
                  <a:srgbClr val="FFFFFF"/>
                </a:solidFill>
              </a:rPr>
              <a:t>მაგ</a:t>
            </a:r>
            <a:r>
              <a:rPr lang="en-US" dirty="0">
                <a:solidFill>
                  <a:srgbClr val="FFFFFF"/>
                </a:solidFill>
              </a:rPr>
              <a:t>: "</a:t>
            </a:r>
            <a:r>
              <a:rPr lang="en-US" dirty="0" err="1">
                <a:solidFill>
                  <a:srgbClr val="FFFFFF"/>
                </a:solidFill>
              </a:rPr>
              <a:t>Free_Airport_WiFi</a:t>
            </a:r>
            <a:r>
              <a:rPr lang="en-US" dirty="0">
                <a:solidFill>
                  <a:srgbClr val="FFFFFF"/>
                </a:solidFill>
              </a:rPr>
              <a:t>").</a:t>
            </a:r>
            <a:endParaRPr lang="en-US"/>
          </a:p>
          <a:p>
            <a:pPr>
              <a:lnSpc>
                <a:spcPct val="90000"/>
              </a:lnSpc>
              <a:spcBef>
                <a:spcPts val="1000"/>
              </a:spcBef>
              <a:spcAft>
                <a:spcPts val="600"/>
              </a:spcAft>
            </a:pPr>
            <a:endParaRPr lang="en-US" dirty="0">
              <a:solidFill>
                <a:srgbClr val="FFFFFF"/>
              </a:solidFill>
            </a:endParaRPr>
          </a:p>
          <a:p>
            <a:pPr marL="0" lvl="1">
              <a:lnSpc>
                <a:spcPct val="90000"/>
              </a:lnSpc>
              <a:spcBef>
                <a:spcPts val="1000"/>
              </a:spcBef>
              <a:spcAft>
                <a:spcPts val="600"/>
              </a:spcAft>
            </a:pPr>
            <a:r>
              <a:rPr lang="en-US" b="1" dirty="0" err="1">
                <a:solidFill>
                  <a:srgbClr val="FFFFFF"/>
                </a:solidFill>
              </a:rPr>
              <a:t>ექსპლუატაცია</a:t>
            </a:r>
            <a:r>
              <a:rPr lang="en-US" b="1" dirty="0">
                <a:solidFill>
                  <a:srgbClr val="FFFFFF"/>
                </a:solidFill>
              </a:rPr>
              <a:t>:</a:t>
            </a:r>
            <a:r>
              <a:rPr lang="en-US" dirty="0">
                <a:solidFill>
                  <a:srgbClr val="FFFFFF"/>
                </a:solidFill>
              </a:rPr>
              <a:t> </a:t>
            </a:r>
            <a:r>
              <a:rPr lang="en-US" dirty="0" err="1">
                <a:solidFill>
                  <a:srgbClr val="FFFFFF"/>
                </a:solidFill>
              </a:rPr>
              <a:t>მომხმარებლები</a:t>
            </a:r>
            <a:r>
              <a:rPr lang="en-US" dirty="0">
                <a:solidFill>
                  <a:srgbClr val="FFFFFF"/>
                </a:solidFill>
              </a:rPr>
              <a:t> </a:t>
            </a:r>
            <a:r>
              <a:rPr lang="en-US" dirty="0" err="1">
                <a:solidFill>
                  <a:srgbClr val="FFFFFF"/>
                </a:solidFill>
              </a:rPr>
              <a:t>უერთდებიან</a:t>
            </a:r>
            <a:r>
              <a:rPr lang="en-US" dirty="0">
                <a:solidFill>
                  <a:srgbClr val="FFFFFF"/>
                </a:solidFill>
              </a:rPr>
              <a:t> </a:t>
            </a:r>
            <a:r>
              <a:rPr lang="en-US" dirty="0" err="1">
                <a:solidFill>
                  <a:srgbClr val="FFFFFF"/>
                </a:solidFill>
              </a:rPr>
              <a:t>ამ</a:t>
            </a:r>
            <a:r>
              <a:rPr lang="en-US" dirty="0">
                <a:solidFill>
                  <a:srgbClr val="FFFFFF"/>
                </a:solidFill>
              </a:rPr>
              <a:t> </a:t>
            </a:r>
            <a:r>
              <a:rPr lang="en-US" dirty="0" err="1">
                <a:solidFill>
                  <a:srgbClr val="FFFFFF"/>
                </a:solidFill>
              </a:rPr>
              <a:t>ქსელს</a:t>
            </a:r>
            <a:r>
              <a:rPr lang="en-US" dirty="0">
                <a:solidFill>
                  <a:srgbClr val="FFFFFF"/>
                </a:solidFill>
              </a:rPr>
              <a:t>. </a:t>
            </a:r>
            <a:r>
              <a:rPr lang="en-US" dirty="0" err="1">
                <a:solidFill>
                  <a:srgbClr val="FFFFFF"/>
                </a:solidFill>
              </a:rPr>
              <a:t>ჰაკერი</a:t>
            </a:r>
            <a:r>
              <a:rPr lang="en-US" dirty="0">
                <a:solidFill>
                  <a:srgbClr val="FFFFFF"/>
                </a:solidFill>
              </a:rPr>
              <a:t> </a:t>
            </a:r>
            <a:r>
              <a:rPr lang="en-US" dirty="0" err="1">
                <a:solidFill>
                  <a:srgbClr val="FFFFFF"/>
                </a:solidFill>
              </a:rPr>
              <a:t>ხდება</a:t>
            </a:r>
            <a:r>
              <a:rPr lang="en-US" dirty="0">
                <a:solidFill>
                  <a:srgbClr val="FFFFFF"/>
                </a:solidFill>
              </a:rPr>
              <a:t> </a:t>
            </a:r>
            <a:r>
              <a:rPr lang="en-US" dirty="0" err="1">
                <a:solidFill>
                  <a:srgbClr val="FFFFFF"/>
                </a:solidFill>
              </a:rPr>
              <a:t>მათი</a:t>
            </a:r>
            <a:r>
              <a:rPr lang="en-US" dirty="0">
                <a:solidFill>
                  <a:srgbClr val="FFFFFF"/>
                </a:solidFill>
              </a:rPr>
              <a:t> "</a:t>
            </a:r>
            <a:r>
              <a:rPr lang="en-US" dirty="0" err="1">
                <a:solidFill>
                  <a:srgbClr val="FFFFFF"/>
                </a:solidFill>
              </a:rPr>
              <a:t>კარიბჭე</a:t>
            </a:r>
            <a:r>
              <a:rPr lang="en-US" dirty="0">
                <a:solidFill>
                  <a:srgbClr val="FFFFFF"/>
                </a:solidFill>
              </a:rPr>
              <a:t>" (Gateway) </a:t>
            </a:r>
            <a:r>
              <a:rPr lang="en-US" dirty="0" err="1">
                <a:solidFill>
                  <a:srgbClr val="FFFFFF"/>
                </a:solidFill>
              </a:rPr>
              <a:t>ინტერნეტთან</a:t>
            </a:r>
            <a:r>
              <a:rPr lang="en-US" dirty="0">
                <a:solidFill>
                  <a:srgbClr val="FFFFFF"/>
                </a:solidFill>
              </a:rPr>
              <a:t>.</a:t>
            </a:r>
          </a:p>
          <a:p>
            <a:pPr algn="ctr">
              <a:lnSpc>
                <a:spcPct val="90000"/>
              </a:lnSpc>
              <a:spcBef>
                <a:spcPts val="1000"/>
              </a:spcBef>
              <a:spcAft>
                <a:spcPts val="600"/>
              </a:spcAft>
            </a:pPr>
            <a:endParaRPr lang="en-US" sz="1100">
              <a:solidFill>
                <a:srgbClr val="FFFFFF"/>
              </a:solidFill>
            </a:endParaRPr>
          </a:p>
        </p:txBody>
      </p:sp>
      <p:sp>
        <p:nvSpPr>
          <p:cNvPr id="5" name="TextBox 4">
            <a:extLst>
              <a:ext uri="{FF2B5EF4-FFF2-40B4-BE49-F238E27FC236}">
                <a16:creationId xmlns:a16="http://schemas.microsoft.com/office/drawing/2014/main" id="{15D74417-9CB2-3089-1AA1-3584CEA42901}"/>
              </a:ext>
            </a:extLst>
          </p:cNvPr>
          <p:cNvSpPr txBox="1"/>
          <p:nvPr/>
        </p:nvSpPr>
        <p:spPr>
          <a:xfrm>
            <a:off x="561848" y="4629912"/>
            <a:ext cx="8117840" cy="153619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lvl="0">
              <a:lnSpc>
                <a:spcPct val="90000"/>
              </a:lnSpc>
              <a:spcBef>
                <a:spcPts val="1000"/>
              </a:spcBef>
            </a:pPr>
            <a:endParaRPr lang="en-US" b="0" i="0" dirty="0"/>
          </a:p>
          <a:p>
            <a:pPr>
              <a:lnSpc>
                <a:spcPct val="90000"/>
              </a:lnSpc>
              <a:spcBef>
                <a:spcPts val="1000"/>
              </a:spcBef>
            </a:pPr>
            <a:r>
              <a:rPr lang="en-US" b="1" i="0" u="none" strike="noStrike" baseline="0" dirty="0" err="1"/>
              <a:t>შედეგი</a:t>
            </a:r>
            <a:r>
              <a:rPr lang="en-US" b="1" i="0" u="none" strike="noStrike" baseline="0" dirty="0"/>
              <a:t>:</a:t>
            </a:r>
            <a:r>
              <a:rPr lang="en-US" b="0" i="0" u="none" strike="noStrike" baseline="0" dirty="0"/>
              <a:t> </a:t>
            </a:r>
            <a:r>
              <a:rPr lang="en-US" b="0" i="0" u="none" strike="noStrike" baseline="0" dirty="0" err="1"/>
              <a:t>ჰაკერს</a:t>
            </a:r>
            <a:r>
              <a:rPr lang="en-US" b="0" i="0" u="none" strike="noStrike" baseline="0" dirty="0"/>
              <a:t> </a:t>
            </a:r>
            <a:r>
              <a:rPr lang="en-US" b="0" i="0" u="none" strike="noStrike" baseline="0" dirty="0" err="1"/>
              <a:t>შეუძლია</a:t>
            </a:r>
            <a:r>
              <a:rPr lang="en-US" b="0" i="0" u="none" strike="noStrike" baseline="0" dirty="0"/>
              <a:t> </a:t>
            </a:r>
            <a:r>
              <a:rPr lang="en-US" b="0" i="0" u="none" strike="noStrike" baseline="0" dirty="0" err="1"/>
              <a:t>მოიპაროს</a:t>
            </a:r>
            <a:r>
              <a:rPr lang="en-US" b="0" i="0" u="none" strike="noStrike" baseline="0" dirty="0"/>
              <a:t> </a:t>
            </a:r>
            <a:r>
              <a:rPr lang="en-US" b="0" i="0" u="none" strike="noStrike" baseline="0" dirty="0" err="1"/>
              <a:t>სესიის</a:t>
            </a:r>
            <a:r>
              <a:rPr lang="en-US" b="0" i="0" u="none" strike="noStrike" baseline="0" dirty="0"/>
              <a:t> </a:t>
            </a:r>
            <a:r>
              <a:rPr lang="en-US" b="0" i="0" u="none" strike="noStrike" baseline="0" dirty="0" err="1"/>
              <a:t>ქუქი-ფაილები</a:t>
            </a:r>
            <a:r>
              <a:rPr lang="en-US" b="0" i="0" u="none" strike="noStrike" baseline="0" dirty="0"/>
              <a:t> (Cookies), </a:t>
            </a:r>
            <a:r>
              <a:rPr lang="en-US" b="0" i="0" u="none" strike="noStrike" baseline="0" dirty="0" err="1"/>
              <a:t>რაც</a:t>
            </a:r>
            <a:r>
              <a:rPr lang="en-US" b="0" i="0" u="none" strike="noStrike" baseline="0" dirty="0"/>
              <a:t> </a:t>
            </a:r>
            <a:r>
              <a:rPr lang="en-US" b="0" i="0" u="none" strike="noStrike" baseline="0" dirty="0" err="1"/>
              <a:t>საშუალებას</a:t>
            </a:r>
            <a:r>
              <a:rPr lang="en-US" b="0" i="0" u="none" strike="noStrike" baseline="0" dirty="0"/>
              <a:t> </a:t>
            </a:r>
            <a:r>
              <a:rPr lang="en-US" b="0" i="0" u="none" strike="noStrike" baseline="0" dirty="0" err="1"/>
              <a:t>აძლევს</a:t>
            </a:r>
            <a:r>
              <a:rPr lang="en-US" b="0" i="0" u="none" strike="noStrike" baseline="0" dirty="0"/>
              <a:t> </a:t>
            </a:r>
            <a:r>
              <a:rPr lang="en-US" b="0" i="0" u="none" strike="noStrike" baseline="0" dirty="0" err="1"/>
              <a:t>მას</a:t>
            </a:r>
            <a:r>
              <a:rPr lang="en-US" b="0" i="0" u="none" strike="noStrike" baseline="0" dirty="0"/>
              <a:t> </a:t>
            </a:r>
            <a:r>
              <a:rPr lang="en-US" b="0" i="0" u="none" strike="noStrike" baseline="0" dirty="0" err="1"/>
              <a:t>შევიდეს</a:t>
            </a:r>
            <a:r>
              <a:rPr lang="en-US" b="0" i="0" u="none" strike="noStrike" baseline="0" dirty="0"/>
              <a:t> </a:t>
            </a:r>
            <a:r>
              <a:rPr lang="en-US" b="0" i="0" u="none" strike="noStrike" baseline="0" dirty="0" err="1"/>
              <a:t>მომხმარებლის</a:t>
            </a:r>
            <a:r>
              <a:rPr lang="en-US" b="0" i="0" u="none" strike="noStrike" baseline="0" dirty="0"/>
              <a:t> </a:t>
            </a:r>
            <a:r>
              <a:rPr lang="en-US" b="0" i="0" u="none" strike="noStrike" baseline="0" dirty="0" err="1"/>
              <a:t>ექაუნთებზე</a:t>
            </a:r>
            <a:r>
              <a:rPr lang="en-US" b="0" i="0" u="none" strike="noStrike" baseline="0" dirty="0"/>
              <a:t> </a:t>
            </a:r>
            <a:r>
              <a:rPr lang="en-US" b="0" i="0" u="none" strike="noStrike" baseline="0" dirty="0" err="1"/>
              <a:t>პაროლის</a:t>
            </a:r>
            <a:r>
              <a:rPr lang="en-US" b="0" i="0" u="none" strike="noStrike" baseline="0" dirty="0"/>
              <a:t> </a:t>
            </a:r>
            <a:r>
              <a:rPr lang="en-US" b="0" i="0" u="none" strike="noStrike" baseline="0" dirty="0" err="1"/>
              <a:t>გარეშე</a:t>
            </a:r>
            <a:r>
              <a:rPr lang="en-US" b="0" i="0" u="none" strike="noStrike" baseline="0" dirty="0"/>
              <a:t>.</a:t>
            </a:r>
            <a:endParaRPr lang="en-US" b="0" i="0" u="none" strike="noStrike" baseline="0"/>
          </a:p>
          <a:p>
            <a:pPr algn="ctr">
              <a:lnSpc>
                <a:spcPct val="90000"/>
              </a:lnSpc>
              <a:spcBef>
                <a:spcPts val="1000"/>
              </a:spcBef>
            </a:pPr>
            <a:endParaRPr lang="en-US" sz="2400">
              <a:solidFill>
                <a:schemeClr val="bg1"/>
              </a:solidFill>
            </a:endParaRPr>
          </a:p>
        </p:txBody>
      </p:sp>
      <p:pic>
        <p:nvPicPr>
          <p:cNvPr id="11" name="Picture 10" descr="Is public WiFi safe?">
            <a:extLst>
              <a:ext uri="{FF2B5EF4-FFF2-40B4-BE49-F238E27FC236}">
                <a16:creationId xmlns:a16="http://schemas.microsoft.com/office/drawing/2014/main" id="{0675214B-2814-C8EC-10E3-D11B3344C785}"/>
              </a:ext>
            </a:extLst>
          </p:cNvPr>
          <p:cNvPicPr>
            <a:picLocks noChangeAspect="1"/>
          </p:cNvPicPr>
          <p:nvPr/>
        </p:nvPicPr>
        <p:blipFill>
          <a:blip r:embed="rId2"/>
          <a:stretch>
            <a:fillRect/>
          </a:stretch>
        </p:blipFill>
        <p:spPr>
          <a:xfrm>
            <a:off x="6803707" y="1894205"/>
            <a:ext cx="4924425" cy="2724150"/>
          </a:xfrm>
          <a:prstGeom prst="rect">
            <a:avLst/>
          </a:prstGeom>
        </p:spPr>
      </p:pic>
    </p:spTree>
    <p:extLst>
      <p:ext uri="{BB962C8B-B14F-4D97-AF65-F5344CB8AC3E}">
        <p14:creationId xmlns:p14="http://schemas.microsoft.com/office/powerpoint/2010/main" val="1308819513"/>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EC9313-0714-69FE-81C9-D5E3B0895B70}"/>
              </a:ext>
            </a:extLst>
          </p:cNvPr>
          <p:cNvSpPr>
            <a:spLocks noGrp="1"/>
          </p:cNvSpPr>
          <p:nvPr>
            <p:ph type="title"/>
          </p:nvPr>
        </p:nvSpPr>
        <p:spPr>
          <a:xfrm>
            <a:off x="320040" y="259992"/>
            <a:ext cx="6880225" cy="856079"/>
          </a:xfrm>
        </p:spPr>
        <p:txBody>
          <a:bodyPr vert="horz" lIns="91440" tIns="45720" rIns="91440" bIns="45720" rtlCol="0" anchor="t">
            <a:normAutofit/>
          </a:bodyPr>
          <a:lstStyle/>
          <a:p>
            <a:r>
              <a:rPr lang="en-US" sz="4000" kern="1200" err="1">
                <a:solidFill>
                  <a:schemeClr val="bg1"/>
                </a:solidFill>
                <a:latin typeface="+mj-lt"/>
                <a:ea typeface="+mj-ea"/>
                <a:cs typeface="+mj-cs"/>
              </a:rPr>
              <a:t>ზეგავლენა</a:t>
            </a:r>
            <a:r>
              <a:rPr lang="en-US" sz="4000" kern="1200" dirty="0">
                <a:solidFill>
                  <a:schemeClr val="bg1"/>
                </a:solidFill>
                <a:latin typeface="+mj-lt"/>
                <a:ea typeface="+mj-ea"/>
                <a:cs typeface="+mj-cs"/>
              </a:rPr>
              <a:t> </a:t>
            </a:r>
            <a:r>
              <a:rPr lang="en-US" sz="4000" kern="1200" err="1">
                <a:solidFill>
                  <a:schemeClr val="bg1"/>
                </a:solidFill>
                <a:latin typeface="+mj-lt"/>
                <a:ea typeface="+mj-ea"/>
                <a:cs typeface="+mj-cs"/>
              </a:rPr>
              <a:t>უსაფრთხოებაზე</a:t>
            </a:r>
            <a:endParaRPr lang="en-US" sz="4000" kern="1200" dirty="0">
              <a:solidFill>
                <a:schemeClr val="bg1"/>
              </a:solidFill>
              <a:latin typeface="+mj-lt"/>
            </a:endParaRPr>
          </a:p>
        </p:txBody>
      </p:sp>
      <p:sp>
        <p:nvSpPr>
          <p:cNvPr id="4" name="TextBox 3">
            <a:extLst>
              <a:ext uri="{FF2B5EF4-FFF2-40B4-BE49-F238E27FC236}">
                <a16:creationId xmlns:a16="http://schemas.microsoft.com/office/drawing/2014/main" id="{F468891E-B876-7B9C-3EAB-7AC64691116A}"/>
              </a:ext>
            </a:extLst>
          </p:cNvPr>
          <p:cNvSpPr txBox="1"/>
          <p:nvPr/>
        </p:nvSpPr>
        <p:spPr>
          <a:xfrm>
            <a:off x="218440" y="1937360"/>
            <a:ext cx="6138545" cy="396814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228600" indent="-228600">
              <a:lnSpc>
                <a:spcPct val="90000"/>
              </a:lnSpc>
              <a:spcAft>
                <a:spcPts val="600"/>
              </a:spcAft>
              <a:buFont typeface="Arial" panose="020B0604020202020204" pitchFamily="34" charset="0"/>
              <a:buChar char="•"/>
            </a:pPr>
            <a:r>
              <a:rPr lang="en-US" b="1" dirty="0" err="1">
                <a:solidFill>
                  <a:schemeClr val="bg1"/>
                </a:solidFill>
              </a:rPr>
              <a:t>მონაცემთა</a:t>
            </a:r>
            <a:r>
              <a:rPr lang="en-US" b="1" dirty="0">
                <a:solidFill>
                  <a:schemeClr val="bg1"/>
                </a:solidFill>
              </a:rPr>
              <a:t> </a:t>
            </a:r>
            <a:r>
              <a:rPr lang="en-US" b="1" dirty="0" err="1">
                <a:solidFill>
                  <a:schemeClr val="bg1"/>
                </a:solidFill>
              </a:rPr>
              <a:t>მანიპულაცია</a:t>
            </a:r>
            <a:r>
              <a:rPr lang="en-US" b="1" dirty="0">
                <a:solidFill>
                  <a:schemeClr val="bg1"/>
                </a:solidFill>
              </a:rPr>
              <a:t>:</a:t>
            </a:r>
            <a:r>
              <a:rPr lang="en-US" dirty="0">
                <a:solidFill>
                  <a:schemeClr val="bg1"/>
                </a:solidFill>
              </a:rPr>
              <a:t> </a:t>
            </a:r>
            <a:r>
              <a:rPr lang="en-US" dirty="0" err="1">
                <a:solidFill>
                  <a:schemeClr val="bg1"/>
                </a:solidFill>
              </a:rPr>
              <a:t>ინფორმაციის</a:t>
            </a:r>
            <a:r>
              <a:rPr lang="en-US" dirty="0">
                <a:solidFill>
                  <a:schemeClr val="bg1"/>
                </a:solidFill>
              </a:rPr>
              <a:t> </a:t>
            </a:r>
            <a:r>
              <a:rPr lang="en-US" dirty="0" err="1">
                <a:solidFill>
                  <a:schemeClr val="bg1"/>
                </a:solidFill>
              </a:rPr>
              <a:t>შეცვლა</a:t>
            </a:r>
            <a:r>
              <a:rPr lang="en-US" dirty="0">
                <a:solidFill>
                  <a:schemeClr val="bg1"/>
                </a:solidFill>
              </a:rPr>
              <a:t> </a:t>
            </a:r>
            <a:r>
              <a:rPr lang="en-US" dirty="0" err="1">
                <a:solidFill>
                  <a:schemeClr val="bg1"/>
                </a:solidFill>
              </a:rPr>
              <a:t>რეალურ</a:t>
            </a:r>
            <a:r>
              <a:rPr lang="en-US" dirty="0">
                <a:solidFill>
                  <a:schemeClr val="bg1"/>
                </a:solidFill>
              </a:rPr>
              <a:t> </a:t>
            </a:r>
            <a:r>
              <a:rPr lang="en-US" dirty="0" err="1">
                <a:solidFill>
                  <a:schemeClr val="bg1"/>
                </a:solidFill>
              </a:rPr>
              <a:t>დროში</a:t>
            </a:r>
            <a:r>
              <a:rPr lang="en-US" dirty="0">
                <a:solidFill>
                  <a:schemeClr val="bg1"/>
                </a:solidFill>
              </a:rPr>
              <a:t> (</a:t>
            </a:r>
            <a:r>
              <a:rPr lang="en-US" dirty="0" err="1">
                <a:solidFill>
                  <a:schemeClr val="bg1"/>
                </a:solidFill>
              </a:rPr>
              <a:t>მაგ</a:t>
            </a:r>
            <a:r>
              <a:rPr lang="en-US" dirty="0">
                <a:solidFill>
                  <a:schemeClr val="bg1"/>
                </a:solidFill>
              </a:rPr>
              <a:t>: </a:t>
            </a:r>
            <a:r>
              <a:rPr lang="en-US" dirty="0" err="1">
                <a:solidFill>
                  <a:schemeClr val="bg1"/>
                </a:solidFill>
              </a:rPr>
              <a:t>საბანკო</a:t>
            </a:r>
            <a:r>
              <a:rPr lang="en-US" dirty="0">
                <a:solidFill>
                  <a:schemeClr val="bg1"/>
                </a:solidFill>
              </a:rPr>
              <a:t> </a:t>
            </a:r>
            <a:r>
              <a:rPr lang="en-US" dirty="0" err="1">
                <a:solidFill>
                  <a:schemeClr val="bg1"/>
                </a:solidFill>
              </a:rPr>
              <a:t>გადარიცხვისას</a:t>
            </a:r>
            <a:r>
              <a:rPr lang="en-US" dirty="0">
                <a:solidFill>
                  <a:schemeClr val="bg1"/>
                </a:solidFill>
              </a:rPr>
              <a:t> </a:t>
            </a:r>
            <a:r>
              <a:rPr lang="en-US" dirty="0" err="1">
                <a:solidFill>
                  <a:schemeClr val="bg1"/>
                </a:solidFill>
              </a:rPr>
              <a:t>მიმღების</a:t>
            </a:r>
            <a:r>
              <a:rPr lang="en-US" dirty="0">
                <a:solidFill>
                  <a:schemeClr val="bg1"/>
                </a:solidFill>
              </a:rPr>
              <a:t> </a:t>
            </a:r>
            <a:r>
              <a:rPr lang="en-US" dirty="0" err="1">
                <a:solidFill>
                  <a:schemeClr val="bg1"/>
                </a:solidFill>
              </a:rPr>
              <a:t>შეცვლა</a:t>
            </a:r>
            <a:r>
              <a:rPr lang="en-US" dirty="0">
                <a:solidFill>
                  <a:schemeClr val="bg1"/>
                </a:solidFill>
              </a:rPr>
              <a:t>).</a:t>
            </a:r>
          </a:p>
          <a:p>
            <a:pPr marL="228600" indent="-228600">
              <a:lnSpc>
                <a:spcPct val="90000"/>
              </a:lnSpc>
              <a:spcAft>
                <a:spcPts val="600"/>
              </a:spcAft>
              <a:buFont typeface="Arial" panose="020B0604020202020204" pitchFamily="34" charset="0"/>
              <a:buChar char="•"/>
            </a:pPr>
            <a:endParaRPr lang="en-US" dirty="0">
              <a:solidFill>
                <a:schemeClr val="bg1"/>
              </a:solidFill>
            </a:endParaRPr>
          </a:p>
          <a:p>
            <a:pPr marL="685800" lvl="1" indent="-228600">
              <a:lnSpc>
                <a:spcPct val="90000"/>
              </a:lnSpc>
              <a:spcAft>
                <a:spcPts val="600"/>
              </a:spcAft>
              <a:buFont typeface="Arial" panose="020B0604020202020204" pitchFamily="34" charset="0"/>
              <a:buChar char="•"/>
            </a:pPr>
            <a:r>
              <a:rPr lang="en-US" b="1" dirty="0" err="1">
                <a:solidFill>
                  <a:schemeClr val="bg1"/>
                </a:solidFill>
              </a:rPr>
              <a:t>კონფიდენციალურობის</a:t>
            </a:r>
            <a:r>
              <a:rPr lang="en-US" b="1" dirty="0">
                <a:solidFill>
                  <a:schemeClr val="bg1"/>
                </a:solidFill>
              </a:rPr>
              <a:t> </a:t>
            </a:r>
            <a:r>
              <a:rPr lang="en-US" b="1" dirty="0" err="1">
                <a:solidFill>
                  <a:schemeClr val="bg1"/>
                </a:solidFill>
              </a:rPr>
              <a:t>დაკარგვა</a:t>
            </a:r>
            <a:r>
              <a:rPr lang="en-US" b="1" dirty="0">
                <a:solidFill>
                  <a:schemeClr val="bg1"/>
                </a:solidFill>
              </a:rPr>
              <a:t>:</a:t>
            </a:r>
            <a:r>
              <a:rPr lang="en-US" dirty="0">
                <a:solidFill>
                  <a:schemeClr val="bg1"/>
                </a:solidFill>
              </a:rPr>
              <a:t> </a:t>
            </a:r>
            <a:r>
              <a:rPr lang="en-US" dirty="0" err="1">
                <a:solidFill>
                  <a:schemeClr val="bg1"/>
                </a:solidFill>
              </a:rPr>
              <a:t>პირადი</a:t>
            </a:r>
            <a:r>
              <a:rPr lang="en-US" dirty="0">
                <a:solidFill>
                  <a:schemeClr val="bg1"/>
                </a:solidFill>
              </a:rPr>
              <a:t> </a:t>
            </a:r>
            <a:r>
              <a:rPr lang="en-US" dirty="0" err="1">
                <a:solidFill>
                  <a:schemeClr val="bg1"/>
                </a:solidFill>
              </a:rPr>
              <a:t>ფოტოების</a:t>
            </a:r>
            <a:r>
              <a:rPr lang="en-US" dirty="0">
                <a:solidFill>
                  <a:schemeClr val="bg1"/>
                </a:solidFill>
              </a:rPr>
              <a:t>, </a:t>
            </a:r>
            <a:r>
              <a:rPr lang="en-US" dirty="0" err="1">
                <a:solidFill>
                  <a:schemeClr val="bg1"/>
                </a:solidFill>
              </a:rPr>
              <a:t>იმეილებისა</a:t>
            </a:r>
            <a:r>
              <a:rPr lang="en-US" dirty="0">
                <a:solidFill>
                  <a:schemeClr val="bg1"/>
                </a:solidFill>
              </a:rPr>
              <a:t> </a:t>
            </a:r>
            <a:r>
              <a:rPr lang="en-US" dirty="0" err="1">
                <a:solidFill>
                  <a:schemeClr val="bg1"/>
                </a:solidFill>
              </a:rPr>
              <a:t>და</a:t>
            </a:r>
            <a:r>
              <a:rPr lang="en-US" dirty="0">
                <a:solidFill>
                  <a:schemeClr val="bg1"/>
                </a:solidFill>
              </a:rPr>
              <a:t> </a:t>
            </a:r>
            <a:r>
              <a:rPr lang="en-US" dirty="0" err="1">
                <a:solidFill>
                  <a:schemeClr val="bg1"/>
                </a:solidFill>
              </a:rPr>
              <a:t>დოკუმენტების</a:t>
            </a:r>
            <a:r>
              <a:rPr lang="en-US" dirty="0">
                <a:solidFill>
                  <a:schemeClr val="bg1"/>
                </a:solidFill>
              </a:rPr>
              <a:t> </a:t>
            </a:r>
            <a:r>
              <a:rPr lang="en-US" dirty="0" err="1">
                <a:solidFill>
                  <a:schemeClr val="bg1"/>
                </a:solidFill>
              </a:rPr>
              <a:t>გაჟონვა</a:t>
            </a:r>
            <a:r>
              <a:rPr lang="en-US" dirty="0">
                <a:solidFill>
                  <a:schemeClr val="bg1"/>
                </a:solidFill>
              </a:rPr>
              <a:t>.</a:t>
            </a:r>
          </a:p>
          <a:p>
            <a:pPr marL="685800" lvl="1" indent="-228600">
              <a:lnSpc>
                <a:spcPct val="90000"/>
              </a:lnSpc>
              <a:spcAft>
                <a:spcPts val="600"/>
              </a:spcAft>
              <a:buFont typeface="Arial" panose="020B0604020202020204" pitchFamily="34" charset="0"/>
              <a:buChar char="•"/>
            </a:pPr>
            <a:endParaRPr lang="en-US" dirty="0">
              <a:solidFill>
                <a:schemeClr val="bg1"/>
              </a:solidFill>
            </a:endParaRPr>
          </a:p>
          <a:p>
            <a:pPr marL="685800" lvl="1" indent="-228600">
              <a:lnSpc>
                <a:spcPct val="90000"/>
              </a:lnSpc>
              <a:spcAft>
                <a:spcPts val="600"/>
              </a:spcAft>
              <a:buFont typeface="Arial" panose="020B0604020202020204" pitchFamily="34" charset="0"/>
              <a:buChar char="•"/>
            </a:pPr>
            <a:r>
              <a:rPr lang="en-US" b="1" dirty="0" err="1">
                <a:solidFill>
                  <a:schemeClr val="bg1"/>
                </a:solidFill>
              </a:rPr>
              <a:t>ავტორიზაციის</a:t>
            </a:r>
            <a:r>
              <a:rPr lang="en-US" b="1" dirty="0">
                <a:solidFill>
                  <a:schemeClr val="bg1"/>
                </a:solidFill>
              </a:rPr>
              <a:t> </a:t>
            </a:r>
            <a:r>
              <a:rPr lang="en-US" b="1" dirty="0" err="1">
                <a:solidFill>
                  <a:schemeClr val="bg1"/>
                </a:solidFill>
              </a:rPr>
              <a:t>გვერდის</a:t>
            </a:r>
            <a:r>
              <a:rPr lang="en-US" b="1" dirty="0">
                <a:solidFill>
                  <a:schemeClr val="bg1"/>
                </a:solidFill>
              </a:rPr>
              <a:t> </a:t>
            </a:r>
            <a:r>
              <a:rPr lang="en-US" b="1" dirty="0" err="1">
                <a:solidFill>
                  <a:schemeClr val="bg1"/>
                </a:solidFill>
              </a:rPr>
              <a:t>ავლით</a:t>
            </a:r>
            <a:r>
              <a:rPr lang="en-US" b="1" dirty="0">
                <a:solidFill>
                  <a:schemeClr val="bg1"/>
                </a:solidFill>
              </a:rPr>
              <a:t>:</a:t>
            </a:r>
            <a:r>
              <a:rPr lang="en-US" dirty="0">
                <a:solidFill>
                  <a:schemeClr val="bg1"/>
                </a:solidFill>
              </a:rPr>
              <a:t> </a:t>
            </a:r>
            <a:r>
              <a:rPr lang="en-US" dirty="0" err="1">
                <a:solidFill>
                  <a:schemeClr val="bg1"/>
                </a:solidFill>
              </a:rPr>
              <a:t>ჰაკერი</a:t>
            </a:r>
            <a:r>
              <a:rPr lang="en-US" dirty="0">
                <a:solidFill>
                  <a:schemeClr val="bg1"/>
                </a:solidFill>
              </a:rPr>
              <a:t> </a:t>
            </a:r>
            <a:r>
              <a:rPr lang="en-US" dirty="0" err="1">
                <a:solidFill>
                  <a:schemeClr val="bg1"/>
                </a:solidFill>
              </a:rPr>
              <a:t>იპარავს</a:t>
            </a:r>
            <a:r>
              <a:rPr lang="en-US" dirty="0">
                <a:solidFill>
                  <a:schemeClr val="bg1"/>
                </a:solidFill>
              </a:rPr>
              <a:t> "</a:t>
            </a:r>
            <a:r>
              <a:rPr lang="en-US" dirty="0" err="1">
                <a:solidFill>
                  <a:schemeClr val="bg1"/>
                </a:solidFill>
              </a:rPr>
              <a:t>წვდომის</a:t>
            </a:r>
            <a:r>
              <a:rPr lang="en-US" dirty="0">
                <a:solidFill>
                  <a:schemeClr val="bg1"/>
                </a:solidFill>
              </a:rPr>
              <a:t> </a:t>
            </a:r>
            <a:r>
              <a:rPr lang="en-US" dirty="0" err="1">
                <a:solidFill>
                  <a:schemeClr val="bg1"/>
                </a:solidFill>
              </a:rPr>
              <a:t>გასაღებებს</a:t>
            </a:r>
            <a:r>
              <a:rPr lang="en-US" dirty="0">
                <a:solidFill>
                  <a:schemeClr val="bg1"/>
                </a:solidFill>
              </a:rPr>
              <a:t>" (Access Tokens), </a:t>
            </a:r>
            <a:r>
              <a:rPr lang="en-US" dirty="0" err="1">
                <a:solidFill>
                  <a:schemeClr val="bg1"/>
                </a:solidFill>
              </a:rPr>
              <a:t>რითაც</a:t>
            </a:r>
            <a:r>
              <a:rPr lang="en-US" dirty="0">
                <a:solidFill>
                  <a:schemeClr val="bg1"/>
                </a:solidFill>
              </a:rPr>
              <a:t> </a:t>
            </a:r>
            <a:r>
              <a:rPr lang="en-US" dirty="0" err="1">
                <a:solidFill>
                  <a:schemeClr val="bg1"/>
                </a:solidFill>
              </a:rPr>
              <a:t>სრულ</a:t>
            </a:r>
            <a:r>
              <a:rPr lang="en-US" dirty="0">
                <a:solidFill>
                  <a:schemeClr val="bg1"/>
                </a:solidFill>
              </a:rPr>
              <a:t> </a:t>
            </a:r>
            <a:r>
              <a:rPr lang="en-US" dirty="0" err="1">
                <a:solidFill>
                  <a:schemeClr val="bg1"/>
                </a:solidFill>
              </a:rPr>
              <a:t>კონტროლს</a:t>
            </a:r>
            <a:r>
              <a:rPr lang="en-US" dirty="0">
                <a:solidFill>
                  <a:schemeClr val="bg1"/>
                </a:solidFill>
              </a:rPr>
              <a:t> </a:t>
            </a:r>
            <a:r>
              <a:rPr lang="en-US" dirty="0" err="1">
                <a:solidFill>
                  <a:schemeClr val="bg1"/>
                </a:solidFill>
              </a:rPr>
              <a:t>ამყარებს</a:t>
            </a:r>
            <a:r>
              <a:rPr lang="en-US" dirty="0">
                <a:solidFill>
                  <a:schemeClr val="bg1"/>
                </a:solidFill>
              </a:rPr>
              <a:t> </a:t>
            </a:r>
            <a:r>
              <a:rPr lang="en-US" dirty="0" err="1">
                <a:solidFill>
                  <a:schemeClr val="bg1"/>
                </a:solidFill>
              </a:rPr>
              <a:t>მსხვერპლის</a:t>
            </a:r>
            <a:r>
              <a:rPr lang="en-US" dirty="0">
                <a:solidFill>
                  <a:schemeClr val="bg1"/>
                </a:solidFill>
              </a:rPr>
              <a:t> </a:t>
            </a:r>
            <a:r>
              <a:rPr lang="en-US" dirty="0" err="1">
                <a:solidFill>
                  <a:schemeClr val="bg1"/>
                </a:solidFill>
              </a:rPr>
              <a:t>ციფრულ</a:t>
            </a:r>
            <a:r>
              <a:rPr lang="en-US" dirty="0">
                <a:solidFill>
                  <a:schemeClr val="bg1"/>
                </a:solidFill>
              </a:rPr>
              <a:t> </a:t>
            </a:r>
            <a:r>
              <a:rPr lang="en-US" dirty="0" err="1">
                <a:solidFill>
                  <a:schemeClr val="bg1"/>
                </a:solidFill>
              </a:rPr>
              <a:t>იდენტობაზე</a:t>
            </a:r>
            <a:r>
              <a:rPr lang="en-US" dirty="0">
                <a:solidFill>
                  <a:schemeClr val="bg1"/>
                </a:solidFill>
              </a:rPr>
              <a:t>.</a:t>
            </a:r>
          </a:p>
          <a:p>
            <a:pPr indent="-228600">
              <a:lnSpc>
                <a:spcPct val="90000"/>
              </a:lnSpc>
              <a:spcAft>
                <a:spcPts val="600"/>
              </a:spcAft>
              <a:buFont typeface="Arial" panose="020B0604020202020204" pitchFamily="34" charset="0"/>
              <a:buChar char="•"/>
            </a:pPr>
            <a:endParaRPr lang="en-US" sz="1100">
              <a:solidFill>
                <a:schemeClr val="bg1">
                  <a:alpha val="80000"/>
                </a:schemeClr>
              </a:solidFill>
            </a:endParaRPr>
          </a:p>
        </p:txBody>
      </p:sp>
      <p:pic>
        <p:nvPicPr>
          <p:cNvPr id="7" name="Picture 6" descr="302,063 Banking 3d Icon Royalty-Free Images, Stock Photos &amp; Pictures |  Shutterstock">
            <a:extLst>
              <a:ext uri="{FF2B5EF4-FFF2-40B4-BE49-F238E27FC236}">
                <a16:creationId xmlns:a16="http://schemas.microsoft.com/office/drawing/2014/main" id="{3CA5A86F-33DB-D8F2-5215-74AE631236A9}"/>
              </a:ext>
            </a:extLst>
          </p:cNvPr>
          <p:cNvPicPr>
            <a:picLocks noChangeAspect="1"/>
          </p:cNvPicPr>
          <p:nvPr/>
        </p:nvPicPr>
        <p:blipFill>
          <a:blip r:embed="rId2"/>
          <a:stretch>
            <a:fillRect/>
          </a:stretch>
        </p:blipFill>
        <p:spPr>
          <a:xfrm>
            <a:off x="6624319" y="1577159"/>
            <a:ext cx="5260976" cy="3380177"/>
          </a:xfrm>
          <a:prstGeom prst="rect">
            <a:avLst/>
          </a:prstGeom>
        </p:spPr>
      </p:pic>
    </p:spTree>
    <p:extLst>
      <p:ext uri="{BB962C8B-B14F-4D97-AF65-F5344CB8AC3E}">
        <p14:creationId xmlns:p14="http://schemas.microsoft.com/office/powerpoint/2010/main" val="4099326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8B04D8-3B74-4C93-242F-813F7305F707}"/>
              </a:ext>
            </a:extLst>
          </p:cNvPr>
          <p:cNvSpPr>
            <a:spLocks noGrp="1"/>
          </p:cNvSpPr>
          <p:nvPr>
            <p:ph type="title"/>
          </p:nvPr>
        </p:nvSpPr>
        <p:spPr>
          <a:xfrm>
            <a:off x="438615" y="396532"/>
            <a:ext cx="6351780" cy="1323439"/>
          </a:xfrm>
        </p:spPr>
        <p:txBody>
          <a:bodyPr vert="horz" lIns="91440" tIns="45720" rIns="91440" bIns="45720" rtlCol="0" anchor="t">
            <a:noAutofit/>
          </a:bodyPr>
          <a:lstStyle/>
          <a:p>
            <a:r>
              <a:rPr lang="en-US" sz="4000" kern="1200" dirty="0" err="1">
                <a:solidFill>
                  <a:schemeClr val="bg1"/>
                </a:solidFill>
                <a:latin typeface="+mj-lt"/>
                <a:ea typeface="+mj-ea"/>
                <a:cs typeface="+mj-cs"/>
              </a:rPr>
              <a:t>თავდაცვის</a:t>
            </a:r>
            <a:r>
              <a:rPr lang="en-US" sz="4000" kern="1200" dirty="0">
                <a:solidFill>
                  <a:schemeClr val="bg1"/>
                </a:solidFill>
                <a:latin typeface="+mj-lt"/>
                <a:ea typeface="+mj-ea"/>
                <a:cs typeface="+mj-cs"/>
              </a:rPr>
              <a:t> </a:t>
            </a:r>
            <a:r>
              <a:rPr lang="en-US" sz="4000" kern="1200" dirty="0" err="1">
                <a:solidFill>
                  <a:schemeClr val="bg1"/>
                </a:solidFill>
                <a:latin typeface="+mj-lt"/>
                <a:ea typeface="+mj-ea"/>
                <a:cs typeface="+mj-cs"/>
              </a:rPr>
              <a:t>მეთოდები</a:t>
            </a:r>
            <a:r>
              <a:rPr lang="en-US" sz="4000" kern="1200" dirty="0">
                <a:solidFill>
                  <a:schemeClr val="bg1"/>
                </a:solidFill>
                <a:latin typeface="+mj-lt"/>
                <a:ea typeface="+mj-ea"/>
                <a:cs typeface="+mj-cs"/>
              </a:rPr>
              <a:t> (</a:t>
            </a:r>
            <a:r>
              <a:rPr lang="en-US" sz="4000" kern="1200" dirty="0" err="1">
                <a:solidFill>
                  <a:schemeClr val="bg1"/>
                </a:solidFill>
                <a:latin typeface="+mj-lt"/>
                <a:ea typeface="+mj-ea"/>
                <a:cs typeface="+mj-cs"/>
              </a:rPr>
              <a:t>პრევენცია</a:t>
            </a:r>
            <a:r>
              <a:rPr lang="en-US" sz="4000" kern="1200" dirty="0">
                <a:solidFill>
                  <a:schemeClr val="bg1"/>
                </a:solidFill>
                <a:latin typeface="+mj-lt"/>
                <a:ea typeface="+mj-ea"/>
                <a:cs typeface="+mj-cs"/>
              </a:rPr>
              <a:t>)</a:t>
            </a:r>
          </a:p>
        </p:txBody>
      </p:sp>
      <p:sp>
        <p:nvSpPr>
          <p:cNvPr id="4" name="TextBox 3">
            <a:extLst>
              <a:ext uri="{FF2B5EF4-FFF2-40B4-BE49-F238E27FC236}">
                <a16:creationId xmlns:a16="http://schemas.microsoft.com/office/drawing/2014/main" id="{585C1C2F-D93F-A9CD-5902-D7AA5C71CB74}"/>
              </a:ext>
            </a:extLst>
          </p:cNvPr>
          <p:cNvSpPr txBox="1"/>
          <p:nvPr/>
        </p:nvSpPr>
        <p:spPr>
          <a:xfrm>
            <a:off x="438615" y="2087034"/>
            <a:ext cx="5506146" cy="306761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228600" indent="-228600">
              <a:lnSpc>
                <a:spcPct val="90000"/>
              </a:lnSpc>
              <a:spcAft>
                <a:spcPts val="600"/>
              </a:spcAft>
              <a:buFont typeface="Arial" panose="020B0604020202020204" pitchFamily="34" charset="0"/>
              <a:buChar char="•"/>
            </a:pPr>
            <a:r>
              <a:rPr lang="en-US" b="1" dirty="0">
                <a:solidFill>
                  <a:schemeClr val="bg1"/>
                </a:solidFill>
              </a:rPr>
              <a:t>HSTS (Strict Transport Security):</a:t>
            </a:r>
            <a:r>
              <a:rPr lang="en-US" dirty="0">
                <a:solidFill>
                  <a:schemeClr val="bg1"/>
                </a:solidFill>
              </a:rPr>
              <a:t> </a:t>
            </a:r>
            <a:r>
              <a:rPr lang="en-US" dirty="0" err="1">
                <a:solidFill>
                  <a:schemeClr val="bg1"/>
                </a:solidFill>
              </a:rPr>
              <a:t>ბრაუზერის</a:t>
            </a:r>
            <a:r>
              <a:rPr lang="en-US" dirty="0">
                <a:solidFill>
                  <a:schemeClr val="bg1"/>
                </a:solidFill>
              </a:rPr>
              <a:t> </a:t>
            </a:r>
            <a:r>
              <a:rPr lang="en-US" dirty="0" err="1">
                <a:solidFill>
                  <a:schemeClr val="bg1"/>
                </a:solidFill>
              </a:rPr>
              <a:t>იძულება</a:t>
            </a:r>
            <a:r>
              <a:rPr lang="en-US" dirty="0">
                <a:solidFill>
                  <a:schemeClr val="bg1"/>
                </a:solidFill>
              </a:rPr>
              <a:t>, </a:t>
            </a:r>
            <a:r>
              <a:rPr lang="en-US" dirty="0" err="1">
                <a:solidFill>
                  <a:schemeClr val="bg1"/>
                </a:solidFill>
              </a:rPr>
              <a:t>რომ</a:t>
            </a:r>
            <a:r>
              <a:rPr lang="en-US" dirty="0">
                <a:solidFill>
                  <a:schemeClr val="bg1"/>
                </a:solidFill>
              </a:rPr>
              <a:t> </a:t>
            </a:r>
            <a:r>
              <a:rPr lang="en-US" dirty="0" err="1">
                <a:solidFill>
                  <a:schemeClr val="bg1"/>
                </a:solidFill>
              </a:rPr>
              <a:t>გამოიყენოს</a:t>
            </a:r>
            <a:r>
              <a:rPr lang="en-US" dirty="0">
                <a:solidFill>
                  <a:schemeClr val="bg1"/>
                </a:solidFill>
              </a:rPr>
              <a:t> </a:t>
            </a:r>
            <a:r>
              <a:rPr lang="en-US" dirty="0" err="1">
                <a:solidFill>
                  <a:schemeClr val="bg1"/>
                </a:solidFill>
              </a:rPr>
              <a:t>მხოლოდ</a:t>
            </a:r>
            <a:r>
              <a:rPr lang="en-US" dirty="0">
                <a:solidFill>
                  <a:schemeClr val="bg1"/>
                </a:solidFill>
              </a:rPr>
              <a:t> HTTPS.</a:t>
            </a:r>
          </a:p>
          <a:p>
            <a:pPr marL="228600" indent="-228600">
              <a:lnSpc>
                <a:spcPct val="90000"/>
              </a:lnSpc>
              <a:spcAft>
                <a:spcPts val="600"/>
              </a:spcAft>
              <a:buFont typeface="Arial" panose="020B0604020202020204" pitchFamily="34" charset="0"/>
              <a:buChar char="•"/>
            </a:pPr>
            <a:endParaRPr lang="en-US" dirty="0">
              <a:solidFill>
                <a:schemeClr val="bg1"/>
              </a:solidFill>
            </a:endParaRPr>
          </a:p>
          <a:p>
            <a:pPr marL="228600" indent="-228600">
              <a:lnSpc>
                <a:spcPct val="90000"/>
              </a:lnSpc>
              <a:spcAft>
                <a:spcPts val="600"/>
              </a:spcAft>
              <a:buFont typeface="Arial" panose="020B0604020202020204" pitchFamily="34" charset="0"/>
              <a:buChar char="•"/>
            </a:pPr>
            <a:r>
              <a:rPr lang="en-US" b="1" dirty="0" err="1">
                <a:solidFill>
                  <a:schemeClr val="bg1"/>
                </a:solidFill>
              </a:rPr>
              <a:t>ორფაქტორიანი</a:t>
            </a:r>
            <a:r>
              <a:rPr lang="en-US" b="1" dirty="0">
                <a:solidFill>
                  <a:schemeClr val="bg1"/>
                </a:solidFill>
              </a:rPr>
              <a:t> </a:t>
            </a:r>
            <a:r>
              <a:rPr lang="en-US" b="1" dirty="0" err="1">
                <a:solidFill>
                  <a:schemeClr val="bg1"/>
                </a:solidFill>
              </a:rPr>
              <a:t>ავთენტიფიკაცია</a:t>
            </a:r>
            <a:r>
              <a:rPr lang="en-US" b="1" dirty="0">
                <a:solidFill>
                  <a:schemeClr val="bg1"/>
                </a:solidFill>
              </a:rPr>
              <a:t> (2FA):</a:t>
            </a:r>
            <a:r>
              <a:rPr lang="en-US" dirty="0">
                <a:solidFill>
                  <a:schemeClr val="bg1"/>
                </a:solidFill>
              </a:rPr>
              <a:t> </a:t>
            </a:r>
            <a:r>
              <a:rPr lang="en-US" dirty="0" err="1">
                <a:solidFill>
                  <a:schemeClr val="bg1"/>
                </a:solidFill>
              </a:rPr>
              <a:t>დამატებითი</a:t>
            </a:r>
            <a:r>
              <a:rPr lang="en-US" dirty="0">
                <a:solidFill>
                  <a:schemeClr val="bg1"/>
                </a:solidFill>
              </a:rPr>
              <a:t> </a:t>
            </a:r>
            <a:r>
              <a:rPr lang="en-US" dirty="0" err="1">
                <a:solidFill>
                  <a:schemeClr val="bg1"/>
                </a:solidFill>
              </a:rPr>
              <a:t>ბარიერი</a:t>
            </a:r>
            <a:r>
              <a:rPr lang="en-US" dirty="0">
                <a:solidFill>
                  <a:schemeClr val="bg1"/>
                </a:solidFill>
              </a:rPr>
              <a:t>, </a:t>
            </a:r>
            <a:r>
              <a:rPr lang="en-US" dirty="0" err="1">
                <a:solidFill>
                  <a:schemeClr val="bg1"/>
                </a:solidFill>
              </a:rPr>
              <a:t>რომელსაც</a:t>
            </a:r>
            <a:r>
              <a:rPr lang="en-US" dirty="0">
                <a:solidFill>
                  <a:schemeClr val="bg1"/>
                </a:solidFill>
              </a:rPr>
              <a:t> </a:t>
            </a:r>
            <a:r>
              <a:rPr lang="en-US" dirty="0" err="1">
                <a:solidFill>
                  <a:schemeClr val="bg1"/>
                </a:solidFill>
              </a:rPr>
              <a:t>ჰაკერი</a:t>
            </a:r>
            <a:r>
              <a:rPr lang="en-US" dirty="0">
                <a:solidFill>
                  <a:schemeClr val="bg1"/>
                </a:solidFill>
              </a:rPr>
              <a:t> </a:t>
            </a:r>
            <a:r>
              <a:rPr lang="en-US" dirty="0" err="1">
                <a:solidFill>
                  <a:schemeClr val="bg1"/>
                </a:solidFill>
              </a:rPr>
              <a:t>ვერ</a:t>
            </a:r>
            <a:r>
              <a:rPr lang="en-US" dirty="0">
                <a:solidFill>
                  <a:schemeClr val="bg1"/>
                </a:solidFill>
              </a:rPr>
              <a:t> </a:t>
            </a:r>
            <a:r>
              <a:rPr lang="en-US" dirty="0" err="1">
                <a:solidFill>
                  <a:schemeClr val="bg1"/>
                </a:solidFill>
              </a:rPr>
              <a:t>გადალახავს</a:t>
            </a:r>
            <a:r>
              <a:rPr lang="en-US" dirty="0">
                <a:solidFill>
                  <a:schemeClr val="bg1"/>
                </a:solidFill>
              </a:rPr>
              <a:t> </a:t>
            </a:r>
            <a:r>
              <a:rPr lang="en-US" dirty="0" err="1">
                <a:solidFill>
                  <a:schemeClr val="bg1"/>
                </a:solidFill>
              </a:rPr>
              <a:t>მხოლოდ</a:t>
            </a:r>
            <a:r>
              <a:rPr lang="en-US" dirty="0">
                <a:solidFill>
                  <a:schemeClr val="bg1"/>
                </a:solidFill>
              </a:rPr>
              <a:t> </a:t>
            </a:r>
            <a:r>
              <a:rPr lang="en-US" dirty="0" err="1">
                <a:solidFill>
                  <a:schemeClr val="bg1"/>
                </a:solidFill>
              </a:rPr>
              <a:t>პაროლის</a:t>
            </a:r>
            <a:r>
              <a:rPr lang="en-US" dirty="0">
                <a:solidFill>
                  <a:schemeClr val="bg1"/>
                </a:solidFill>
              </a:rPr>
              <a:t> </a:t>
            </a:r>
            <a:r>
              <a:rPr lang="en-US" dirty="0" err="1">
                <a:solidFill>
                  <a:schemeClr val="bg1"/>
                </a:solidFill>
              </a:rPr>
              <a:t>მოპარვით</a:t>
            </a:r>
            <a:r>
              <a:rPr lang="en-US" dirty="0">
                <a:solidFill>
                  <a:schemeClr val="bg1"/>
                </a:solidFill>
              </a:rPr>
              <a:t>.</a:t>
            </a:r>
          </a:p>
          <a:p>
            <a:pPr marL="228600" indent="-228600">
              <a:lnSpc>
                <a:spcPct val="90000"/>
              </a:lnSpc>
              <a:spcAft>
                <a:spcPts val="600"/>
              </a:spcAft>
              <a:buFont typeface="Arial" panose="020B0604020202020204" pitchFamily="34" charset="0"/>
              <a:buChar char="•"/>
            </a:pPr>
            <a:endParaRPr lang="en-US" dirty="0">
              <a:solidFill>
                <a:schemeClr val="bg1"/>
              </a:solidFill>
            </a:endParaRPr>
          </a:p>
          <a:p>
            <a:pPr marL="228600" indent="-228600">
              <a:lnSpc>
                <a:spcPct val="90000"/>
              </a:lnSpc>
              <a:spcAft>
                <a:spcPts val="600"/>
              </a:spcAft>
              <a:buFont typeface="Arial" panose="020B0604020202020204" pitchFamily="34" charset="0"/>
              <a:buChar char="•"/>
            </a:pPr>
            <a:r>
              <a:rPr lang="en-US" b="1" dirty="0">
                <a:solidFill>
                  <a:schemeClr val="bg1"/>
                </a:solidFill>
              </a:rPr>
              <a:t>VPN:</a:t>
            </a:r>
            <a:r>
              <a:rPr lang="en-US" dirty="0">
                <a:solidFill>
                  <a:schemeClr val="bg1"/>
                </a:solidFill>
              </a:rPr>
              <a:t> </a:t>
            </a:r>
            <a:r>
              <a:rPr lang="en-US" dirty="0" err="1">
                <a:solidFill>
                  <a:schemeClr val="bg1"/>
                </a:solidFill>
              </a:rPr>
              <a:t>მონაცემთა</a:t>
            </a:r>
            <a:r>
              <a:rPr lang="en-US" dirty="0">
                <a:solidFill>
                  <a:schemeClr val="bg1"/>
                </a:solidFill>
              </a:rPr>
              <a:t> </a:t>
            </a:r>
            <a:r>
              <a:rPr lang="en-US" dirty="0" err="1">
                <a:solidFill>
                  <a:schemeClr val="bg1"/>
                </a:solidFill>
              </a:rPr>
              <a:t>დამატებითი</a:t>
            </a:r>
            <a:r>
              <a:rPr lang="en-US" dirty="0">
                <a:solidFill>
                  <a:schemeClr val="bg1"/>
                </a:solidFill>
              </a:rPr>
              <a:t> </a:t>
            </a:r>
            <a:r>
              <a:rPr lang="en-US" dirty="0" err="1">
                <a:solidFill>
                  <a:schemeClr val="bg1"/>
                </a:solidFill>
              </a:rPr>
              <a:t>დაშიფვრა</a:t>
            </a:r>
            <a:r>
              <a:rPr lang="en-US" dirty="0">
                <a:solidFill>
                  <a:schemeClr val="bg1"/>
                </a:solidFill>
              </a:rPr>
              <a:t>, </a:t>
            </a:r>
            <a:r>
              <a:rPr lang="en-US" dirty="0" err="1">
                <a:solidFill>
                  <a:schemeClr val="bg1"/>
                </a:solidFill>
              </a:rPr>
              <a:t>რაც</a:t>
            </a:r>
            <a:r>
              <a:rPr lang="en-US" dirty="0">
                <a:solidFill>
                  <a:schemeClr val="bg1"/>
                </a:solidFill>
              </a:rPr>
              <a:t> MitM-ს </a:t>
            </a:r>
            <a:r>
              <a:rPr lang="en-US" dirty="0" err="1">
                <a:solidFill>
                  <a:schemeClr val="bg1"/>
                </a:solidFill>
              </a:rPr>
              <a:t>შეუძლებელს</a:t>
            </a:r>
            <a:r>
              <a:rPr lang="en-US" dirty="0">
                <a:solidFill>
                  <a:schemeClr val="bg1"/>
                </a:solidFill>
              </a:rPr>
              <a:t> </a:t>
            </a:r>
            <a:r>
              <a:rPr lang="en-US" dirty="0" err="1">
                <a:solidFill>
                  <a:schemeClr val="bg1"/>
                </a:solidFill>
              </a:rPr>
              <a:t>ხდის</a:t>
            </a:r>
            <a:r>
              <a:rPr lang="en-US" dirty="0">
                <a:solidFill>
                  <a:schemeClr val="bg1"/>
                </a:solidFill>
              </a:rPr>
              <a:t> </a:t>
            </a:r>
            <a:r>
              <a:rPr lang="en-US" dirty="0" err="1">
                <a:solidFill>
                  <a:schemeClr val="bg1"/>
                </a:solidFill>
              </a:rPr>
              <a:t>საჯარო</a:t>
            </a:r>
            <a:r>
              <a:rPr lang="en-US" dirty="0">
                <a:solidFill>
                  <a:schemeClr val="bg1"/>
                </a:solidFill>
              </a:rPr>
              <a:t> </a:t>
            </a:r>
            <a:r>
              <a:rPr lang="en-US" dirty="0" err="1">
                <a:solidFill>
                  <a:schemeClr val="bg1"/>
                </a:solidFill>
              </a:rPr>
              <a:t>ქსელებშიც</a:t>
            </a:r>
            <a:r>
              <a:rPr lang="en-US" dirty="0">
                <a:solidFill>
                  <a:schemeClr val="bg1"/>
                </a:solidFill>
              </a:rPr>
              <a:t> </a:t>
            </a:r>
            <a:r>
              <a:rPr lang="en-US" dirty="0" err="1">
                <a:solidFill>
                  <a:schemeClr val="bg1"/>
                </a:solidFill>
              </a:rPr>
              <a:t>კი</a:t>
            </a:r>
            <a:r>
              <a:rPr lang="en-US" dirty="0">
                <a:solidFill>
                  <a:schemeClr val="bg1"/>
                </a:solidFill>
              </a:rPr>
              <a:t>.</a:t>
            </a:r>
          </a:p>
          <a:p>
            <a:pPr indent="-228600">
              <a:lnSpc>
                <a:spcPct val="90000"/>
              </a:lnSpc>
              <a:spcAft>
                <a:spcPts val="600"/>
              </a:spcAft>
              <a:buFont typeface="Arial" panose="020B0604020202020204" pitchFamily="34" charset="0"/>
              <a:buChar char="•"/>
            </a:pPr>
            <a:endParaRPr lang="en-US" sz="1300" dirty="0">
              <a:solidFill>
                <a:schemeClr val="bg1"/>
              </a:solidFill>
            </a:endParaRPr>
          </a:p>
        </p:txBody>
      </p:sp>
      <p:pic>
        <p:nvPicPr>
          <p:cNvPr id="3" name="Picture 2" descr="Cyber security at mobile phone concept 3D illustration. Icon composition  with password on screen, fingerprint scanner, key and lock in shield,  secure access. Vector illustration for modern web design 5879573 Vector Art">
            <a:extLst>
              <a:ext uri="{FF2B5EF4-FFF2-40B4-BE49-F238E27FC236}">
                <a16:creationId xmlns:a16="http://schemas.microsoft.com/office/drawing/2014/main" id="{DB4F0ECC-58E5-7DDB-C51F-07FAB7C2BDD0}"/>
              </a:ext>
            </a:extLst>
          </p:cNvPr>
          <p:cNvPicPr>
            <a:picLocks noChangeAspect="1"/>
          </p:cNvPicPr>
          <p:nvPr/>
        </p:nvPicPr>
        <p:blipFill>
          <a:blip r:embed="rId2"/>
          <a:stretch>
            <a:fillRect/>
          </a:stretch>
        </p:blipFill>
        <p:spPr>
          <a:xfrm>
            <a:off x="6365487" y="1660213"/>
            <a:ext cx="5260976" cy="3498549"/>
          </a:xfrm>
          <a:prstGeom prst="rect">
            <a:avLst/>
          </a:prstGeom>
        </p:spPr>
      </p:pic>
    </p:spTree>
    <p:extLst>
      <p:ext uri="{BB962C8B-B14F-4D97-AF65-F5344CB8AC3E}">
        <p14:creationId xmlns:p14="http://schemas.microsoft.com/office/powerpoint/2010/main" val="3924981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6FC42E6-6C25-4922-95D2-B97B1E12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1FE0FC-4D05-D641-0780-71992EDCD741}"/>
              </a:ext>
            </a:extLst>
          </p:cNvPr>
          <p:cNvSpPr>
            <a:spLocks noGrp="1"/>
          </p:cNvSpPr>
          <p:nvPr>
            <p:ph type="title"/>
          </p:nvPr>
        </p:nvSpPr>
        <p:spPr>
          <a:xfrm>
            <a:off x="29639" y="332962"/>
            <a:ext cx="7713477" cy="721059"/>
          </a:xfrm>
        </p:spPr>
        <p:txBody>
          <a:bodyPr vert="horz" lIns="91440" tIns="45720" rIns="91440" bIns="45720" rtlCol="0" anchor="b">
            <a:normAutofit/>
          </a:bodyPr>
          <a:lstStyle/>
          <a:p>
            <a:pPr algn="ctr"/>
            <a:r>
              <a:rPr lang="en-US" sz="2800" kern="1200" err="1">
                <a:solidFill>
                  <a:schemeClr val="bg1"/>
                </a:solidFill>
                <a:latin typeface="+mj-lt"/>
                <a:ea typeface="+mj-ea"/>
                <a:cs typeface="+mj-cs"/>
              </a:rPr>
              <a:t>შემთხვევა</a:t>
            </a:r>
            <a:r>
              <a:rPr lang="en-US" sz="2800" kern="1200" dirty="0">
                <a:solidFill>
                  <a:schemeClr val="bg1"/>
                </a:solidFill>
                <a:latin typeface="+mj-lt"/>
                <a:ea typeface="+mj-ea"/>
                <a:cs typeface="+mj-cs"/>
              </a:rPr>
              <a:t> </a:t>
            </a:r>
            <a:r>
              <a:rPr lang="en-US" sz="2800" kern="1200" err="1">
                <a:solidFill>
                  <a:schemeClr val="bg1"/>
                </a:solidFill>
                <a:latin typeface="+mj-lt"/>
                <a:ea typeface="+mj-ea"/>
                <a:cs typeface="+mj-cs"/>
              </a:rPr>
              <a:t>ისტორიიდან</a:t>
            </a:r>
            <a:r>
              <a:rPr lang="en-US" sz="2800" kern="1200">
                <a:solidFill>
                  <a:schemeClr val="bg1"/>
                </a:solidFill>
                <a:latin typeface="+mj-lt"/>
                <a:ea typeface="+mj-ea"/>
                <a:cs typeface="+mj-cs"/>
              </a:rPr>
              <a:t>: </a:t>
            </a:r>
            <a:r>
              <a:rPr lang="en-US" sz="2800" kern="1200" err="1">
                <a:solidFill>
                  <a:schemeClr val="bg1"/>
                </a:solidFill>
                <a:latin typeface="+mj-lt"/>
                <a:ea typeface="+mj-ea"/>
                <a:cs typeface="+mj-cs"/>
              </a:rPr>
              <a:t>DigiNotar</a:t>
            </a:r>
            <a:r>
              <a:rPr lang="en-US" sz="2800" kern="1200">
                <a:solidFill>
                  <a:schemeClr val="bg1"/>
                </a:solidFill>
                <a:latin typeface="+mj-lt"/>
                <a:ea typeface="+mj-ea"/>
                <a:cs typeface="+mj-cs"/>
              </a:rPr>
              <a:t> (2011)</a:t>
            </a:r>
          </a:p>
        </p:txBody>
      </p:sp>
      <p:sp>
        <p:nvSpPr>
          <p:cNvPr id="5" name="TextBox 4">
            <a:extLst>
              <a:ext uri="{FF2B5EF4-FFF2-40B4-BE49-F238E27FC236}">
                <a16:creationId xmlns:a16="http://schemas.microsoft.com/office/drawing/2014/main" id="{B9C923C6-3A0C-1911-6D12-1C7471FF148E}"/>
              </a:ext>
            </a:extLst>
          </p:cNvPr>
          <p:cNvSpPr txBox="1"/>
          <p:nvPr/>
        </p:nvSpPr>
        <p:spPr>
          <a:xfrm>
            <a:off x="720519" y="4189380"/>
            <a:ext cx="6219957" cy="190893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0" lvl="1">
              <a:lnSpc>
                <a:spcPct val="90000"/>
              </a:lnSpc>
              <a:spcBef>
                <a:spcPts val="1000"/>
              </a:spcBef>
            </a:pPr>
            <a:r>
              <a:rPr lang="en-US" b="1" i="0" u="none" strike="noStrike" kern="1200" baseline="0" dirty="0" err="1">
                <a:solidFill>
                  <a:schemeClr val="bg1"/>
                </a:solidFill>
                <a:latin typeface="+mn-lt"/>
                <a:ea typeface="+mn-ea"/>
                <a:cs typeface="+mn-cs"/>
              </a:rPr>
              <a:t>შედეგი</a:t>
            </a:r>
            <a:r>
              <a:rPr lang="en-US" b="1" i="0" u="none" strike="noStrike" kern="1200" baseline="0" dirty="0">
                <a:solidFill>
                  <a:schemeClr val="bg1"/>
                </a:solidFill>
                <a:latin typeface="+mn-lt"/>
                <a:ea typeface="+mn-ea"/>
                <a:cs typeface="+mn-cs"/>
              </a:rPr>
              <a:t>:</a:t>
            </a:r>
            <a:r>
              <a:rPr lang="en-US" b="0" i="0" u="none" strike="noStrike" kern="1200" baseline="0" dirty="0">
                <a:solidFill>
                  <a:schemeClr val="bg1"/>
                </a:solidFill>
                <a:latin typeface="+mn-lt"/>
                <a:ea typeface="+mn-ea"/>
                <a:cs typeface="+mn-cs"/>
              </a:rPr>
              <a:t> </a:t>
            </a:r>
            <a:r>
              <a:rPr lang="en-US" b="0" i="0" u="none" strike="noStrike" kern="1200" baseline="0" dirty="0" err="1">
                <a:solidFill>
                  <a:schemeClr val="bg1"/>
                </a:solidFill>
                <a:latin typeface="+mn-lt"/>
                <a:ea typeface="+mn-ea"/>
                <a:cs typeface="+mn-cs"/>
              </a:rPr>
              <a:t>კომპანია</a:t>
            </a:r>
            <a:r>
              <a:rPr lang="en-US" b="0" i="0" u="none" strike="noStrike" kern="1200" baseline="0" dirty="0">
                <a:solidFill>
                  <a:schemeClr val="bg1"/>
                </a:solidFill>
                <a:latin typeface="+mn-lt"/>
                <a:ea typeface="+mn-ea"/>
                <a:cs typeface="+mn-cs"/>
              </a:rPr>
              <a:t> </a:t>
            </a:r>
            <a:r>
              <a:rPr lang="en-US" b="0" i="0" u="none" strike="noStrike" kern="1200" baseline="0" dirty="0" err="1">
                <a:solidFill>
                  <a:schemeClr val="bg1"/>
                </a:solidFill>
                <a:latin typeface="+mn-lt"/>
                <a:ea typeface="+mn-ea"/>
                <a:cs typeface="+mn-cs"/>
              </a:rPr>
              <a:t>გაკოტრდა</a:t>
            </a:r>
            <a:r>
              <a:rPr lang="en-US" b="0" i="0" u="none" strike="noStrike" kern="1200" baseline="0" dirty="0">
                <a:solidFill>
                  <a:schemeClr val="bg1"/>
                </a:solidFill>
                <a:latin typeface="+mn-lt"/>
                <a:ea typeface="+mn-ea"/>
                <a:cs typeface="+mn-cs"/>
              </a:rPr>
              <a:t>. </a:t>
            </a:r>
            <a:r>
              <a:rPr lang="en-US" b="0" i="0" u="none" strike="noStrike" kern="1200" baseline="0" dirty="0" err="1">
                <a:solidFill>
                  <a:schemeClr val="bg1"/>
                </a:solidFill>
                <a:latin typeface="+mn-lt"/>
                <a:ea typeface="+mn-ea"/>
                <a:cs typeface="+mn-cs"/>
              </a:rPr>
              <a:t>ამ</a:t>
            </a:r>
            <a:r>
              <a:rPr lang="en-US" b="0" i="0" u="none" strike="noStrike" kern="1200" baseline="0" dirty="0">
                <a:solidFill>
                  <a:schemeClr val="bg1"/>
                </a:solidFill>
                <a:latin typeface="+mn-lt"/>
                <a:ea typeface="+mn-ea"/>
                <a:cs typeface="+mn-cs"/>
              </a:rPr>
              <a:t> </a:t>
            </a:r>
            <a:r>
              <a:rPr lang="en-US" b="0" i="0" u="none" strike="noStrike" kern="1200" baseline="0" dirty="0" err="1">
                <a:solidFill>
                  <a:schemeClr val="bg1"/>
                </a:solidFill>
                <a:latin typeface="+mn-lt"/>
                <a:ea typeface="+mn-ea"/>
                <a:cs typeface="+mn-cs"/>
              </a:rPr>
              <a:t>შემთხვევამ</a:t>
            </a:r>
            <a:r>
              <a:rPr lang="en-US" b="0" i="0" u="none" strike="noStrike" kern="1200" baseline="0" dirty="0">
                <a:solidFill>
                  <a:schemeClr val="bg1"/>
                </a:solidFill>
                <a:latin typeface="+mn-lt"/>
                <a:ea typeface="+mn-ea"/>
                <a:cs typeface="+mn-cs"/>
              </a:rPr>
              <a:t> </a:t>
            </a:r>
            <a:r>
              <a:rPr lang="en-US" b="0" i="0" u="none" strike="noStrike" kern="1200" baseline="0" dirty="0" err="1">
                <a:solidFill>
                  <a:schemeClr val="bg1"/>
                </a:solidFill>
                <a:latin typeface="+mn-lt"/>
                <a:ea typeface="+mn-ea"/>
                <a:cs typeface="+mn-cs"/>
              </a:rPr>
              <a:t>საფუძველი</a:t>
            </a:r>
            <a:r>
              <a:rPr lang="en-US" b="0" i="0" u="none" strike="noStrike" kern="1200" baseline="0" dirty="0">
                <a:solidFill>
                  <a:schemeClr val="bg1"/>
                </a:solidFill>
                <a:latin typeface="+mn-lt"/>
                <a:ea typeface="+mn-ea"/>
                <a:cs typeface="+mn-cs"/>
              </a:rPr>
              <a:t> </a:t>
            </a:r>
            <a:r>
              <a:rPr lang="en-US" b="0" i="0" u="none" strike="noStrike" kern="1200" baseline="0" dirty="0" err="1">
                <a:solidFill>
                  <a:schemeClr val="bg1"/>
                </a:solidFill>
                <a:latin typeface="+mn-lt"/>
                <a:ea typeface="+mn-ea"/>
                <a:cs typeface="+mn-cs"/>
              </a:rPr>
              <a:t>ჩაუყარა</a:t>
            </a:r>
            <a:r>
              <a:rPr lang="en-US" b="0" i="0" u="none" strike="noStrike" kern="1200" baseline="0" dirty="0">
                <a:solidFill>
                  <a:schemeClr val="bg1"/>
                </a:solidFill>
                <a:latin typeface="+mn-lt"/>
                <a:ea typeface="+mn-ea"/>
                <a:cs typeface="+mn-cs"/>
              </a:rPr>
              <a:t> </a:t>
            </a:r>
            <a:r>
              <a:rPr lang="en-US" b="1" i="0" u="none" strike="noStrike" kern="1200" baseline="0" dirty="0">
                <a:solidFill>
                  <a:schemeClr val="bg1"/>
                </a:solidFill>
                <a:latin typeface="+mn-lt"/>
                <a:ea typeface="+mn-ea"/>
                <a:cs typeface="+mn-cs"/>
              </a:rPr>
              <a:t>Certificate Transparency</a:t>
            </a:r>
            <a:r>
              <a:rPr lang="en-US" b="0" i="0" u="none" strike="noStrike" kern="1200" baseline="0" dirty="0">
                <a:solidFill>
                  <a:schemeClr val="bg1"/>
                </a:solidFill>
                <a:latin typeface="+mn-lt"/>
                <a:ea typeface="+mn-ea"/>
                <a:cs typeface="+mn-cs"/>
              </a:rPr>
              <a:t>-</a:t>
            </a:r>
            <a:r>
              <a:rPr lang="en-US" b="0" i="0" u="none" strike="noStrike" kern="1200" baseline="0" dirty="0" err="1">
                <a:solidFill>
                  <a:schemeClr val="bg1"/>
                </a:solidFill>
                <a:latin typeface="+mn-lt"/>
                <a:ea typeface="+mn-ea"/>
                <a:cs typeface="+mn-cs"/>
              </a:rPr>
              <a:t>ის</a:t>
            </a:r>
            <a:r>
              <a:rPr lang="en-US" b="0" i="0" u="none" strike="noStrike" kern="1200" baseline="0" dirty="0">
                <a:solidFill>
                  <a:schemeClr val="bg1"/>
                </a:solidFill>
                <a:latin typeface="+mn-lt"/>
                <a:ea typeface="+mn-ea"/>
                <a:cs typeface="+mn-cs"/>
              </a:rPr>
              <a:t> </a:t>
            </a:r>
            <a:r>
              <a:rPr lang="en-US" b="0" i="0" u="none" strike="noStrike" kern="1200" baseline="0" dirty="0" err="1">
                <a:solidFill>
                  <a:schemeClr val="bg1"/>
                </a:solidFill>
                <a:latin typeface="+mn-lt"/>
                <a:ea typeface="+mn-ea"/>
                <a:cs typeface="+mn-cs"/>
              </a:rPr>
              <a:t>სტანდარტს</a:t>
            </a:r>
            <a:r>
              <a:rPr lang="en-US" b="0" i="0" u="none" strike="noStrike" kern="1200" baseline="0" dirty="0">
                <a:solidFill>
                  <a:schemeClr val="bg1"/>
                </a:solidFill>
                <a:latin typeface="+mn-lt"/>
                <a:ea typeface="+mn-ea"/>
                <a:cs typeface="+mn-cs"/>
              </a:rPr>
              <a:t>.</a:t>
            </a:r>
            <a:r>
              <a:rPr lang="en-US" b="0" i="0" kern="1200" dirty="0">
                <a:solidFill>
                  <a:schemeClr val="bg1"/>
                </a:solidFill>
                <a:latin typeface="+mn-lt"/>
                <a:ea typeface="+mn-ea"/>
                <a:cs typeface="+mn-cs"/>
              </a:rPr>
              <a:t>​</a:t>
            </a:r>
            <a:endParaRPr lang="en-US" dirty="0">
              <a:solidFill>
                <a:schemeClr val="bg1"/>
              </a:solidFill>
              <a:ea typeface="+mn-ea"/>
              <a:cs typeface="+mn-cs"/>
            </a:endParaRPr>
          </a:p>
          <a:p>
            <a:pPr algn="ctr">
              <a:lnSpc>
                <a:spcPct val="90000"/>
              </a:lnSpc>
              <a:spcBef>
                <a:spcPts val="1000"/>
              </a:spcBef>
            </a:pPr>
            <a:endParaRPr lang="en-US" sz="1400" kern="1200">
              <a:solidFill>
                <a:schemeClr val="bg1"/>
              </a:solidFill>
              <a:latin typeface="+mn-lt"/>
              <a:ea typeface="+mn-ea"/>
              <a:cs typeface="+mn-cs"/>
            </a:endParaRPr>
          </a:p>
        </p:txBody>
      </p:sp>
      <p:sp>
        <p:nvSpPr>
          <p:cNvPr id="4" name="TextBox 3">
            <a:extLst>
              <a:ext uri="{FF2B5EF4-FFF2-40B4-BE49-F238E27FC236}">
                <a16:creationId xmlns:a16="http://schemas.microsoft.com/office/drawing/2014/main" id="{9240A772-2AFE-24B6-84A0-0FB9B73ECF02}"/>
              </a:ext>
            </a:extLst>
          </p:cNvPr>
          <p:cNvSpPr txBox="1"/>
          <p:nvPr/>
        </p:nvSpPr>
        <p:spPr>
          <a:xfrm>
            <a:off x="720661" y="1646421"/>
            <a:ext cx="6706997" cy="20422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nSpc>
                <a:spcPct val="90000"/>
              </a:lnSpc>
              <a:spcBef>
                <a:spcPts val="1000"/>
              </a:spcBef>
              <a:spcAft>
                <a:spcPts val="600"/>
              </a:spcAft>
            </a:pPr>
            <a:r>
              <a:rPr lang="en-US" b="1" dirty="0" err="1">
                <a:solidFill>
                  <a:srgbClr val="FFFFFF"/>
                </a:solidFill>
              </a:rPr>
              <a:t>ინციდენტი</a:t>
            </a:r>
            <a:r>
              <a:rPr lang="en-US" b="1" dirty="0">
                <a:solidFill>
                  <a:srgbClr val="FFFFFF"/>
                </a:solidFill>
              </a:rPr>
              <a:t>:</a:t>
            </a:r>
            <a:r>
              <a:rPr lang="en-US" dirty="0">
                <a:solidFill>
                  <a:srgbClr val="FFFFFF"/>
                </a:solidFill>
              </a:rPr>
              <a:t> </a:t>
            </a:r>
            <a:r>
              <a:rPr lang="en-US" dirty="0" err="1">
                <a:solidFill>
                  <a:srgbClr val="FFFFFF"/>
                </a:solidFill>
              </a:rPr>
              <a:t>ჰაკერებმა</a:t>
            </a:r>
            <a:r>
              <a:rPr lang="en-US" dirty="0">
                <a:solidFill>
                  <a:srgbClr val="FFFFFF"/>
                </a:solidFill>
              </a:rPr>
              <a:t> </a:t>
            </a:r>
            <a:r>
              <a:rPr lang="en-US" dirty="0" err="1">
                <a:solidFill>
                  <a:srgbClr val="FFFFFF"/>
                </a:solidFill>
              </a:rPr>
              <a:t>გატეხეს</a:t>
            </a:r>
            <a:r>
              <a:rPr lang="en-US" dirty="0">
                <a:solidFill>
                  <a:srgbClr val="FFFFFF"/>
                </a:solidFill>
              </a:rPr>
              <a:t> </a:t>
            </a:r>
            <a:r>
              <a:rPr lang="en-US" dirty="0" err="1">
                <a:solidFill>
                  <a:srgbClr val="FFFFFF"/>
                </a:solidFill>
              </a:rPr>
              <a:t>სერტიფიკატების</a:t>
            </a:r>
            <a:r>
              <a:rPr lang="en-US" dirty="0">
                <a:solidFill>
                  <a:srgbClr val="FFFFFF"/>
                </a:solidFill>
              </a:rPr>
              <a:t> </a:t>
            </a:r>
            <a:r>
              <a:rPr lang="en-US" dirty="0" err="1">
                <a:solidFill>
                  <a:srgbClr val="FFFFFF"/>
                </a:solidFill>
              </a:rPr>
              <a:t>გამცემი</a:t>
            </a:r>
            <a:r>
              <a:rPr lang="en-US" dirty="0">
                <a:solidFill>
                  <a:srgbClr val="FFFFFF"/>
                </a:solidFill>
              </a:rPr>
              <a:t> </a:t>
            </a:r>
            <a:r>
              <a:rPr lang="en-US" dirty="0" err="1">
                <a:solidFill>
                  <a:srgbClr val="FFFFFF"/>
                </a:solidFill>
              </a:rPr>
              <a:t>ორგანიზაცია</a:t>
            </a:r>
            <a:r>
              <a:rPr lang="en-US" dirty="0">
                <a:solidFill>
                  <a:srgbClr val="FFFFFF"/>
                </a:solidFill>
              </a:rPr>
              <a:t> </a:t>
            </a:r>
            <a:r>
              <a:rPr lang="en-US" dirty="0" err="1">
                <a:solidFill>
                  <a:srgbClr val="FFFFFF"/>
                </a:solidFill>
              </a:rPr>
              <a:t>DigiNotar</a:t>
            </a:r>
            <a:r>
              <a:rPr lang="en-US" dirty="0">
                <a:solidFill>
                  <a:srgbClr val="FFFFFF"/>
                </a:solidFill>
              </a:rPr>
              <a:t>.</a:t>
            </a:r>
          </a:p>
          <a:p>
            <a:pPr>
              <a:lnSpc>
                <a:spcPct val="90000"/>
              </a:lnSpc>
              <a:spcBef>
                <a:spcPts val="1000"/>
              </a:spcBef>
              <a:spcAft>
                <a:spcPts val="600"/>
              </a:spcAft>
            </a:pPr>
            <a:endParaRPr lang="en-US" dirty="0">
              <a:solidFill>
                <a:srgbClr val="FFFFFF"/>
              </a:solidFill>
            </a:endParaRPr>
          </a:p>
          <a:p>
            <a:pPr marL="0" lvl="1">
              <a:lnSpc>
                <a:spcPct val="90000"/>
              </a:lnSpc>
              <a:spcBef>
                <a:spcPts val="1000"/>
              </a:spcBef>
              <a:spcAft>
                <a:spcPts val="600"/>
              </a:spcAft>
            </a:pPr>
            <a:r>
              <a:rPr lang="en-US" b="1" dirty="0" err="1">
                <a:solidFill>
                  <a:srgbClr val="FFFFFF"/>
                </a:solidFill>
              </a:rPr>
              <a:t>შეტევა</a:t>
            </a:r>
            <a:r>
              <a:rPr lang="en-US" b="1" dirty="0">
                <a:solidFill>
                  <a:srgbClr val="FFFFFF"/>
                </a:solidFill>
              </a:rPr>
              <a:t>:</a:t>
            </a:r>
            <a:r>
              <a:rPr lang="en-US" dirty="0">
                <a:solidFill>
                  <a:srgbClr val="FFFFFF"/>
                </a:solidFill>
              </a:rPr>
              <a:t> </a:t>
            </a:r>
            <a:r>
              <a:rPr lang="en-US" dirty="0" err="1">
                <a:solidFill>
                  <a:srgbClr val="FFFFFF"/>
                </a:solidFill>
              </a:rPr>
              <a:t>გამოსცეს</a:t>
            </a:r>
            <a:r>
              <a:rPr lang="en-US" dirty="0">
                <a:solidFill>
                  <a:srgbClr val="FFFFFF"/>
                </a:solidFill>
              </a:rPr>
              <a:t> </a:t>
            </a:r>
            <a:r>
              <a:rPr lang="en-US" dirty="0" err="1">
                <a:solidFill>
                  <a:srgbClr val="FFFFFF"/>
                </a:solidFill>
              </a:rPr>
              <a:t>ყალბი</a:t>
            </a:r>
            <a:r>
              <a:rPr lang="en-US" dirty="0">
                <a:solidFill>
                  <a:srgbClr val="FFFFFF"/>
                </a:solidFill>
              </a:rPr>
              <a:t> SSL </a:t>
            </a:r>
            <a:r>
              <a:rPr lang="en-US" dirty="0" err="1">
                <a:solidFill>
                  <a:srgbClr val="FFFFFF"/>
                </a:solidFill>
              </a:rPr>
              <a:t>სერტიფიკატი</a:t>
            </a:r>
            <a:r>
              <a:rPr lang="en-US" dirty="0">
                <a:solidFill>
                  <a:srgbClr val="FFFFFF"/>
                </a:solidFill>
              </a:rPr>
              <a:t> Google-</a:t>
            </a:r>
            <a:r>
              <a:rPr lang="en-US" dirty="0" err="1">
                <a:solidFill>
                  <a:srgbClr val="FFFFFF"/>
                </a:solidFill>
              </a:rPr>
              <a:t>ისთვის</a:t>
            </a:r>
            <a:r>
              <a:rPr lang="en-US" dirty="0">
                <a:solidFill>
                  <a:srgbClr val="FFFFFF"/>
                </a:solidFill>
              </a:rPr>
              <a:t>, </a:t>
            </a:r>
            <a:r>
              <a:rPr lang="en-US" dirty="0" err="1">
                <a:solidFill>
                  <a:srgbClr val="FFFFFF"/>
                </a:solidFill>
              </a:rPr>
              <a:t>რის</a:t>
            </a:r>
            <a:r>
              <a:rPr lang="en-US" dirty="0">
                <a:solidFill>
                  <a:srgbClr val="FFFFFF"/>
                </a:solidFill>
              </a:rPr>
              <a:t> </a:t>
            </a:r>
            <a:r>
              <a:rPr lang="en-US" dirty="0" err="1">
                <a:solidFill>
                  <a:srgbClr val="FFFFFF"/>
                </a:solidFill>
              </a:rPr>
              <a:t>შემდეგაც</a:t>
            </a:r>
            <a:r>
              <a:rPr lang="en-US" dirty="0">
                <a:solidFill>
                  <a:srgbClr val="FFFFFF"/>
                </a:solidFill>
              </a:rPr>
              <a:t> </a:t>
            </a:r>
            <a:r>
              <a:rPr lang="en-US" dirty="0" err="1">
                <a:solidFill>
                  <a:srgbClr val="FFFFFF"/>
                </a:solidFill>
              </a:rPr>
              <a:t>ირანში</a:t>
            </a:r>
            <a:r>
              <a:rPr lang="en-US" dirty="0">
                <a:solidFill>
                  <a:srgbClr val="FFFFFF"/>
                </a:solidFill>
              </a:rPr>
              <a:t> Gmail-</a:t>
            </a:r>
            <a:r>
              <a:rPr lang="en-US" dirty="0" err="1">
                <a:solidFill>
                  <a:srgbClr val="FFFFFF"/>
                </a:solidFill>
              </a:rPr>
              <a:t>ის</a:t>
            </a:r>
            <a:r>
              <a:rPr lang="en-US" dirty="0">
                <a:solidFill>
                  <a:srgbClr val="FFFFFF"/>
                </a:solidFill>
              </a:rPr>
              <a:t> </a:t>
            </a:r>
            <a:r>
              <a:rPr lang="en-US" dirty="0" err="1">
                <a:solidFill>
                  <a:srgbClr val="FFFFFF"/>
                </a:solidFill>
              </a:rPr>
              <a:t>მომხმარებლების</a:t>
            </a:r>
            <a:r>
              <a:rPr lang="en-US" dirty="0">
                <a:solidFill>
                  <a:srgbClr val="FFFFFF"/>
                </a:solidFill>
              </a:rPr>
              <a:t> </a:t>
            </a:r>
            <a:r>
              <a:rPr lang="en-US" dirty="0" err="1">
                <a:solidFill>
                  <a:srgbClr val="FFFFFF"/>
                </a:solidFill>
              </a:rPr>
              <a:t>მიმოწერას</a:t>
            </a:r>
            <a:r>
              <a:rPr lang="en-US" dirty="0">
                <a:solidFill>
                  <a:srgbClr val="FFFFFF"/>
                </a:solidFill>
              </a:rPr>
              <a:t> </a:t>
            </a:r>
            <a:r>
              <a:rPr lang="en-US" dirty="0" err="1">
                <a:solidFill>
                  <a:srgbClr val="FFFFFF"/>
                </a:solidFill>
              </a:rPr>
              <a:t>ჭრიდნენ</a:t>
            </a:r>
            <a:r>
              <a:rPr lang="en-US" dirty="0">
                <a:solidFill>
                  <a:srgbClr val="FFFFFF"/>
                </a:solidFill>
              </a:rPr>
              <a:t>.</a:t>
            </a:r>
          </a:p>
          <a:p>
            <a:pPr marL="0" lvl="1">
              <a:lnSpc>
                <a:spcPct val="90000"/>
              </a:lnSpc>
              <a:spcBef>
                <a:spcPts val="1000"/>
              </a:spcBef>
              <a:spcAft>
                <a:spcPts val="600"/>
              </a:spcAft>
            </a:pPr>
            <a:endParaRPr lang="en-US" sz="1900">
              <a:solidFill>
                <a:srgbClr val="FFFFFF"/>
              </a:solidFill>
            </a:endParaRPr>
          </a:p>
        </p:txBody>
      </p:sp>
      <p:pic>
        <p:nvPicPr>
          <p:cNvPr id="6" name="Picture 5" descr="Hacker attacking internet user isometric 3d vector | Premium Vector">
            <a:extLst>
              <a:ext uri="{FF2B5EF4-FFF2-40B4-BE49-F238E27FC236}">
                <a16:creationId xmlns:a16="http://schemas.microsoft.com/office/drawing/2014/main" id="{3731C951-6A24-74E3-099F-C3340FC23884}"/>
              </a:ext>
            </a:extLst>
          </p:cNvPr>
          <p:cNvPicPr>
            <a:picLocks noChangeAspect="1"/>
          </p:cNvPicPr>
          <p:nvPr/>
        </p:nvPicPr>
        <p:blipFill>
          <a:blip r:embed="rId2"/>
          <a:stretch>
            <a:fillRect/>
          </a:stretch>
        </p:blipFill>
        <p:spPr>
          <a:xfrm>
            <a:off x="7616190" y="1388110"/>
            <a:ext cx="4152900" cy="3086100"/>
          </a:xfrm>
          <a:prstGeom prst="rect">
            <a:avLst/>
          </a:prstGeom>
        </p:spPr>
      </p:pic>
    </p:spTree>
    <p:extLst>
      <p:ext uri="{BB962C8B-B14F-4D97-AF65-F5344CB8AC3E}">
        <p14:creationId xmlns:p14="http://schemas.microsoft.com/office/powerpoint/2010/main" val="2737194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D9C414A-A284-4D73-B9C7-54C138F6D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F59A0F-DF66-3B9F-71D4-2543B0CD0A06}"/>
              </a:ext>
            </a:extLst>
          </p:cNvPr>
          <p:cNvSpPr>
            <a:spLocks noGrp="1"/>
          </p:cNvSpPr>
          <p:nvPr>
            <p:ph type="title"/>
          </p:nvPr>
        </p:nvSpPr>
        <p:spPr>
          <a:xfrm>
            <a:off x="143382" y="507762"/>
            <a:ext cx="8117132" cy="694105"/>
          </a:xfrm>
        </p:spPr>
        <p:txBody>
          <a:bodyPr vert="horz" lIns="91440" tIns="45720" rIns="91440" bIns="45720" rtlCol="0" anchor="b">
            <a:normAutofit/>
          </a:bodyPr>
          <a:lstStyle/>
          <a:p>
            <a:pPr algn="ctr"/>
            <a:r>
              <a:rPr lang="en-US" sz="2800" kern="1200" err="1">
                <a:solidFill>
                  <a:schemeClr val="bg1"/>
                </a:solidFill>
                <a:latin typeface="+mj-lt"/>
                <a:ea typeface="+mj-ea"/>
                <a:cs typeface="+mj-cs"/>
              </a:rPr>
              <a:t>კრიპტოგრაფიის</a:t>
            </a:r>
            <a:r>
              <a:rPr lang="en-US" sz="2800" kern="1200" dirty="0">
                <a:solidFill>
                  <a:schemeClr val="bg1"/>
                </a:solidFill>
                <a:latin typeface="+mj-lt"/>
                <a:ea typeface="+mj-ea"/>
                <a:cs typeface="+mj-cs"/>
              </a:rPr>
              <a:t> </a:t>
            </a:r>
            <a:r>
              <a:rPr lang="en-US" sz="2800" kern="1200" err="1">
                <a:solidFill>
                  <a:schemeClr val="bg1"/>
                </a:solidFill>
                <a:latin typeface="+mj-lt"/>
                <a:ea typeface="+mj-ea"/>
                <a:cs typeface="+mj-cs"/>
              </a:rPr>
              <a:t>განვითარება</a:t>
            </a:r>
            <a:r>
              <a:rPr lang="en-US" sz="2800" kern="1200" dirty="0">
                <a:solidFill>
                  <a:schemeClr val="bg1"/>
                </a:solidFill>
                <a:latin typeface="+mj-lt"/>
                <a:ea typeface="+mj-ea"/>
                <a:cs typeface="+mj-cs"/>
              </a:rPr>
              <a:t> </a:t>
            </a:r>
            <a:r>
              <a:rPr lang="en-US" sz="2800" kern="1200" err="1">
                <a:solidFill>
                  <a:schemeClr val="bg1"/>
                </a:solidFill>
                <a:latin typeface="+mj-lt"/>
                <a:ea typeface="+mj-ea"/>
                <a:cs typeface="+mj-cs"/>
              </a:rPr>
              <a:t>და</a:t>
            </a:r>
            <a:r>
              <a:rPr lang="en-US" sz="2800" kern="1200" dirty="0">
                <a:solidFill>
                  <a:schemeClr val="bg1"/>
                </a:solidFill>
                <a:latin typeface="+mj-lt"/>
                <a:ea typeface="+mj-ea"/>
                <a:cs typeface="+mj-cs"/>
              </a:rPr>
              <a:t> </a:t>
            </a:r>
            <a:r>
              <a:rPr lang="en-US" sz="2800" kern="1200" err="1">
                <a:solidFill>
                  <a:schemeClr val="bg1"/>
                </a:solidFill>
                <a:latin typeface="+mj-lt"/>
                <a:ea typeface="+mj-ea"/>
                <a:cs typeface="+mj-cs"/>
              </a:rPr>
              <a:t>დასკვნა</a:t>
            </a:r>
            <a:endParaRPr lang="en-US" sz="2800" kern="1200" dirty="0">
              <a:solidFill>
                <a:schemeClr val="bg1"/>
              </a:solidFill>
              <a:latin typeface="+mj-lt"/>
            </a:endParaRPr>
          </a:p>
        </p:txBody>
      </p:sp>
      <p:sp>
        <p:nvSpPr>
          <p:cNvPr id="4" name="TextBox 3">
            <a:extLst>
              <a:ext uri="{FF2B5EF4-FFF2-40B4-BE49-F238E27FC236}">
                <a16:creationId xmlns:a16="http://schemas.microsoft.com/office/drawing/2014/main" id="{0565B040-322B-FABD-89B0-FE3B6B7EB723}"/>
              </a:ext>
            </a:extLst>
          </p:cNvPr>
          <p:cNvSpPr txBox="1"/>
          <p:nvPr/>
        </p:nvSpPr>
        <p:spPr>
          <a:xfrm>
            <a:off x="681862" y="1572654"/>
            <a:ext cx="5566971" cy="2715104"/>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nSpc>
                <a:spcPct val="90000"/>
              </a:lnSpc>
              <a:spcBef>
                <a:spcPts val="1000"/>
              </a:spcBef>
              <a:spcAft>
                <a:spcPts val="600"/>
              </a:spcAft>
            </a:pPr>
            <a:r>
              <a:rPr lang="en-US" b="1" kern="1200" dirty="0" err="1">
                <a:solidFill>
                  <a:schemeClr val="bg1"/>
                </a:solidFill>
                <a:latin typeface="+mn-lt"/>
                <a:ea typeface="+mn-ea"/>
                <a:cs typeface="+mn-cs"/>
              </a:rPr>
              <a:t>მომავალი</a:t>
            </a:r>
            <a:r>
              <a:rPr lang="en-US" b="1" kern="1200" dirty="0">
                <a:solidFill>
                  <a:schemeClr val="bg1"/>
                </a:solidFill>
                <a:latin typeface="+mn-lt"/>
                <a:ea typeface="+mn-ea"/>
                <a:cs typeface="+mn-cs"/>
              </a:rPr>
              <a:t>:</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გადასვლა</a:t>
            </a:r>
            <a:r>
              <a:rPr lang="en-US" kern="1200" dirty="0">
                <a:solidFill>
                  <a:schemeClr val="bg1"/>
                </a:solidFill>
                <a:latin typeface="+mn-lt"/>
                <a:ea typeface="+mn-ea"/>
                <a:cs typeface="+mn-cs"/>
              </a:rPr>
              <a:t> </a:t>
            </a:r>
            <a:r>
              <a:rPr lang="en-US" b="1" kern="1200" dirty="0">
                <a:solidFill>
                  <a:schemeClr val="bg1"/>
                </a:solidFill>
                <a:latin typeface="+mn-lt"/>
                <a:ea typeface="+mn-ea"/>
                <a:cs typeface="+mn-cs"/>
              </a:rPr>
              <a:t>Post-Quantum Cryptography</a:t>
            </a:r>
            <a:r>
              <a:rPr lang="en-US" kern="1200" dirty="0">
                <a:solidFill>
                  <a:schemeClr val="bg1"/>
                </a:solidFill>
                <a:latin typeface="+mn-lt"/>
                <a:ea typeface="+mn-ea"/>
                <a:cs typeface="+mn-cs"/>
              </a:rPr>
              <a:t>-</a:t>
            </a:r>
            <a:r>
              <a:rPr lang="en-US" kern="1200" dirty="0" err="1">
                <a:solidFill>
                  <a:schemeClr val="bg1"/>
                </a:solidFill>
                <a:latin typeface="+mn-lt"/>
                <a:ea typeface="+mn-ea"/>
                <a:cs typeface="+mn-cs"/>
              </a:rPr>
              <a:t>ზე</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კვანტური</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კომპიუტერებისგან</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დასაცავად</a:t>
            </a:r>
            <a:r>
              <a:rPr lang="en-US" kern="1200" dirty="0">
                <a:solidFill>
                  <a:schemeClr val="bg1"/>
                </a:solidFill>
                <a:latin typeface="+mn-lt"/>
                <a:ea typeface="+mn-ea"/>
                <a:cs typeface="+mn-cs"/>
              </a:rPr>
              <a:t>).</a:t>
            </a:r>
            <a:endParaRPr lang="en-US"/>
          </a:p>
          <a:p>
            <a:pPr>
              <a:lnSpc>
                <a:spcPct val="90000"/>
              </a:lnSpc>
              <a:spcBef>
                <a:spcPts val="1000"/>
              </a:spcBef>
              <a:spcAft>
                <a:spcPts val="600"/>
              </a:spcAft>
            </a:pPr>
            <a:endParaRPr lang="en-US" kern="1200" dirty="0">
              <a:solidFill>
                <a:schemeClr val="bg1"/>
              </a:solidFill>
              <a:latin typeface="+mn-lt"/>
            </a:endParaRPr>
          </a:p>
          <a:p>
            <a:pPr marL="0" lvl="1">
              <a:lnSpc>
                <a:spcPct val="90000"/>
              </a:lnSpc>
              <a:spcBef>
                <a:spcPts val="1000"/>
              </a:spcBef>
              <a:spcAft>
                <a:spcPts val="600"/>
              </a:spcAft>
            </a:pPr>
            <a:r>
              <a:rPr lang="en-US" b="1" kern="1200" dirty="0">
                <a:solidFill>
                  <a:schemeClr val="bg1"/>
                </a:solidFill>
                <a:latin typeface="+mn-lt"/>
                <a:ea typeface="+mn-ea"/>
                <a:cs typeface="+mn-cs"/>
              </a:rPr>
              <a:t>Zero Trust Policy:</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მიდგომა</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სადაც</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არცერთი</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ქსელი</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არ</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ითვლება</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უსაფრთხოდ</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და</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ყოველი</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მოთხოვნა</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მოითხოვს</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ხელახალ</a:t>
            </a:r>
            <a:r>
              <a:rPr lang="en-US" kern="1200" dirty="0">
                <a:solidFill>
                  <a:schemeClr val="bg1"/>
                </a:solidFill>
                <a:latin typeface="+mn-lt"/>
                <a:ea typeface="+mn-ea"/>
                <a:cs typeface="+mn-cs"/>
              </a:rPr>
              <a:t> </a:t>
            </a:r>
            <a:r>
              <a:rPr lang="en-US" kern="1200" dirty="0" err="1">
                <a:solidFill>
                  <a:schemeClr val="bg1"/>
                </a:solidFill>
                <a:latin typeface="+mn-lt"/>
                <a:ea typeface="+mn-ea"/>
                <a:cs typeface="+mn-cs"/>
              </a:rPr>
              <a:t>ვერიფიკაციას</a:t>
            </a:r>
            <a:r>
              <a:rPr lang="en-US" kern="1200" dirty="0">
                <a:solidFill>
                  <a:schemeClr val="bg1"/>
                </a:solidFill>
                <a:latin typeface="+mn-lt"/>
                <a:ea typeface="+mn-ea"/>
                <a:cs typeface="+mn-cs"/>
              </a:rPr>
              <a:t>.</a:t>
            </a:r>
            <a:endParaRPr lang="en-US" kern="1200" dirty="0">
              <a:solidFill>
                <a:schemeClr val="bg1"/>
              </a:solidFill>
              <a:latin typeface="+mn-lt"/>
            </a:endParaRPr>
          </a:p>
          <a:p>
            <a:pPr marL="0" lvl="1" algn="ctr">
              <a:lnSpc>
                <a:spcPct val="90000"/>
              </a:lnSpc>
              <a:spcBef>
                <a:spcPts val="1000"/>
              </a:spcBef>
              <a:spcAft>
                <a:spcPts val="600"/>
              </a:spcAft>
            </a:pPr>
            <a:endParaRPr lang="en-US" sz="1200" kern="1200">
              <a:solidFill>
                <a:schemeClr val="bg1"/>
              </a:solidFill>
              <a:latin typeface="+mn-lt"/>
              <a:ea typeface="+mn-ea"/>
              <a:cs typeface="+mn-cs"/>
            </a:endParaRPr>
          </a:p>
          <a:p>
            <a:pPr algn="ctr">
              <a:lnSpc>
                <a:spcPct val="90000"/>
              </a:lnSpc>
              <a:spcBef>
                <a:spcPts val="1000"/>
              </a:spcBef>
              <a:spcAft>
                <a:spcPts val="600"/>
              </a:spcAft>
            </a:pPr>
            <a:endParaRPr lang="en-US" sz="1200" kern="1200">
              <a:solidFill>
                <a:schemeClr val="bg1"/>
              </a:solidFill>
              <a:latin typeface="+mn-lt"/>
              <a:ea typeface="+mn-ea"/>
              <a:cs typeface="+mn-cs"/>
            </a:endParaRPr>
          </a:p>
        </p:txBody>
      </p:sp>
      <p:sp>
        <p:nvSpPr>
          <p:cNvPr id="5" name="TextBox 4">
            <a:extLst>
              <a:ext uri="{FF2B5EF4-FFF2-40B4-BE49-F238E27FC236}">
                <a16:creationId xmlns:a16="http://schemas.microsoft.com/office/drawing/2014/main" id="{2EA6E5B7-7871-0E59-1929-808F53EAA748}"/>
              </a:ext>
            </a:extLst>
          </p:cNvPr>
          <p:cNvSpPr txBox="1"/>
          <p:nvPr/>
        </p:nvSpPr>
        <p:spPr>
          <a:xfrm>
            <a:off x="603449" y="4141073"/>
            <a:ext cx="7184394" cy="109440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ts val="1000"/>
              </a:spcBef>
            </a:pPr>
            <a:r>
              <a:rPr lang="en-US" b="1" i="0" u="none" strike="noStrike" baseline="0" dirty="0" err="1">
                <a:solidFill>
                  <a:srgbClr val="FFFFFF"/>
                </a:solidFill>
              </a:rPr>
              <a:t>დასკვნა</a:t>
            </a:r>
            <a:r>
              <a:rPr lang="en-US" b="1" i="0" u="none" strike="noStrike" baseline="0" dirty="0">
                <a:solidFill>
                  <a:srgbClr val="FFFFFF"/>
                </a:solidFill>
              </a:rPr>
              <a:t>:</a:t>
            </a:r>
            <a:r>
              <a:rPr lang="en-US" b="0" i="0" u="none" strike="noStrike" baseline="0" dirty="0">
                <a:solidFill>
                  <a:srgbClr val="FFFFFF"/>
                </a:solidFill>
              </a:rPr>
              <a:t> </a:t>
            </a:r>
            <a:r>
              <a:rPr lang="en-US" b="0" i="0" u="none" strike="noStrike" baseline="0" dirty="0" err="1">
                <a:solidFill>
                  <a:srgbClr val="FFFFFF"/>
                </a:solidFill>
              </a:rPr>
              <a:t>ტექნიკური</a:t>
            </a:r>
            <a:r>
              <a:rPr lang="en-US" b="0" i="0" u="none" strike="noStrike" baseline="0" dirty="0">
                <a:solidFill>
                  <a:srgbClr val="FFFFFF"/>
                </a:solidFill>
              </a:rPr>
              <a:t> </a:t>
            </a:r>
            <a:r>
              <a:rPr lang="en-US" b="0" i="0" u="none" strike="noStrike" baseline="0" dirty="0" err="1">
                <a:solidFill>
                  <a:srgbClr val="FFFFFF"/>
                </a:solidFill>
              </a:rPr>
              <a:t>დაცვა</a:t>
            </a:r>
            <a:r>
              <a:rPr lang="en-US" b="0" i="0" u="none" strike="noStrike" baseline="0" dirty="0">
                <a:solidFill>
                  <a:srgbClr val="FFFFFF"/>
                </a:solidFill>
              </a:rPr>
              <a:t> </a:t>
            </a:r>
            <a:r>
              <a:rPr lang="en-US" b="0" i="0" u="none" strike="noStrike" baseline="0" dirty="0" err="1">
                <a:solidFill>
                  <a:srgbClr val="FFFFFF"/>
                </a:solidFill>
              </a:rPr>
              <a:t>უსარგებლოა</a:t>
            </a:r>
            <a:r>
              <a:rPr lang="en-US" b="0" i="0" u="none" strike="noStrike" baseline="0" dirty="0">
                <a:solidFill>
                  <a:srgbClr val="FFFFFF"/>
                </a:solidFill>
              </a:rPr>
              <a:t> </a:t>
            </a:r>
            <a:r>
              <a:rPr lang="en-US" b="0" i="0" u="none" strike="noStrike" baseline="0" dirty="0" err="1">
                <a:solidFill>
                  <a:srgbClr val="FFFFFF"/>
                </a:solidFill>
              </a:rPr>
              <a:t>მომხმარებლის</a:t>
            </a:r>
            <a:r>
              <a:rPr lang="en-US" b="0" i="0" u="none" strike="noStrike" baseline="0" dirty="0">
                <a:solidFill>
                  <a:srgbClr val="FFFFFF"/>
                </a:solidFill>
              </a:rPr>
              <a:t> </a:t>
            </a:r>
            <a:r>
              <a:rPr lang="en-US" b="0" i="0" u="none" strike="noStrike" baseline="0" dirty="0" err="1">
                <a:solidFill>
                  <a:srgbClr val="FFFFFF"/>
                </a:solidFill>
              </a:rPr>
              <a:t>სიფხიზლის</a:t>
            </a:r>
            <a:r>
              <a:rPr lang="en-US" b="0" i="0" u="none" strike="noStrike" baseline="0" dirty="0">
                <a:solidFill>
                  <a:srgbClr val="FFFFFF"/>
                </a:solidFill>
              </a:rPr>
              <a:t> </a:t>
            </a:r>
            <a:r>
              <a:rPr lang="en-US" b="0" i="0" u="none" strike="noStrike" baseline="0" dirty="0" err="1">
                <a:solidFill>
                  <a:srgbClr val="FFFFFF"/>
                </a:solidFill>
              </a:rPr>
              <a:t>გარეშე</a:t>
            </a:r>
            <a:r>
              <a:rPr lang="en-US" b="0" i="0" u="none" strike="noStrike" baseline="0" dirty="0">
                <a:solidFill>
                  <a:srgbClr val="FFFFFF"/>
                </a:solidFill>
              </a:rPr>
              <a:t>. </a:t>
            </a:r>
            <a:r>
              <a:rPr lang="en-US" b="0" i="0" u="none" strike="noStrike" baseline="0" dirty="0" err="1">
                <a:solidFill>
                  <a:srgbClr val="FFFFFF"/>
                </a:solidFill>
              </a:rPr>
              <a:t>კიბერ-განათლება</a:t>
            </a:r>
            <a:r>
              <a:rPr lang="en-US" b="0" i="0" u="none" strike="noStrike" baseline="0" dirty="0">
                <a:solidFill>
                  <a:srgbClr val="FFFFFF"/>
                </a:solidFill>
              </a:rPr>
              <a:t> </a:t>
            </a:r>
            <a:r>
              <a:rPr lang="en-US" b="0" i="0" u="none" strike="noStrike" baseline="0" dirty="0" err="1">
                <a:solidFill>
                  <a:srgbClr val="FFFFFF"/>
                </a:solidFill>
              </a:rPr>
              <a:t>უსაფრთხოების</a:t>
            </a:r>
            <a:r>
              <a:rPr lang="en-US" b="0" i="0" u="none" strike="noStrike" baseline="0" dirty="0">
                <a:solidFill>
                  <a:srgbClr val="FFFFFF"/>
                </a:solidFill>
              </a:rPr>
              <a:t> </a:t>
            </a:r>
            <a:r>
              <a:rPr lang="en-US" b="0" i="0" u="none" strike="noStrike" baseline="0" dirty="0" err="1">
                <a:solidFill>
                  <a:srgbClr val="FFFFFF"/>
                </a:solidFill>
              </a:rPr>
              <a:t>მთავარი</a:t>
            </a:r>
            <a:r>
              <a:rPr lang="en-US" b="0" i="0" u="none" strike="noStrike" baseline="0" dirty="0">
                <a:solidFill>
                  <a:srgbClr val="FFFFFF"/>
                </a:solidFill>
              </a:rPr>
              <a:t> </a:t>
            </a:r>
            <a:r>
              <a:rPr lang="en-US" b="0" i="0" u="none" strike="noStrike" baseline="0" dirty="0" err="1">
                <a:solidFill>
                  <a:srgbClr val="FFFFFF"/>
                </a:solidFill>
              </a:rPr>
              <a:t>კომპონენტია</a:t>
            </a:r>
            <a:r>
              <a:rPr lang="en-US" b="0" i="0" u="none" strike="noStrike" baseline="0" dirty="0">
                <a:solidFill>
                  <a:srgbClr val="FFFFFF"/>
                </a:solidFill>
              </a:rPr>
              <a:t>.</a:t>
            </a:r>
            <a:endParaRPr lang="en-US" dirty="0">
              <a:solidFill>
                <a:srgbClr val="FFFFFF"/>
              </a:solidFill>
            </a:endParaRPr>
          </a:p>
          <a:p>
            <a:pPr>
              <a:lnSpc>
                <a:spcPct val="90000"/>
              </a:lnSpc>
              <a:spcBef>
                <a:spcPts val="1000"/>
              </a:spcBef>
            </a:pPr>
            <a:endParaRPr lang="en-US" sz="2400">
              <a:solidFill>
                <a:srgbClr val="FFFFFF"/>
              </a:solidFill>
            </a:endParaRPr>
          </a:p>
        </p:txBody>
      </p:sp>
      <p:pic>
        <p:nvPicPr>
          <p:cNvPr id="6" name="Picture 5" descr="Green Check Mark on a Global Network Globe with Connections Tick Correct  Stock Illustration - Illustration of planet, technology: 422118182">
            <a:extLst>
              <a:ext uri="{FF2B5EF4-FFF2-40B4-BE49-F238E27FC236}">
                <a16:creationId xmlns:a16="http://schemas.microsoft.com/office/drawing/2014/main" id="{0BB88CB2-F133-8329-0F8C-92678DEED8E4}"/>
              </a:ext>
            </a:extLst>
          </p:cNvPr>
          <p:cNvPicPr>
            <a:picLocks noChangeAspect="1"/>
          </p:cNvPicPr>
          <p:nvPr/>
        </p:nvPicPr>
        <p:blipFill>
          <a:blip r:embed="rId2"/>
          <a:stretch>
            <a:fillRect/>
          </a:stretch>
        </p:blipFill>
        <p:spPr>
          <a:xfrm>
            <a:off x="7570153" y="1577658"/>
            <a:ext cx="4092575" cy="2696845"/>
          </a:xfrm>
          <a:prstGeom prst="rect">
            <a:avLst/>
          </a:prstGeom>
        </p:spPr>
      </p:pic>
    </p:spTree>
    <p:extLst>
      <p:ext uri="{BB962C8B-B14F-4D97-AF65-F5344CB8AC3E}">
        <p14:creationId xmlns:p14="http://schemas.microsoft.com/office/powerpoint/2010/main" val="1593916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endParaRPr>
          </a:p>
        </p:txBody>
      </p:sp>
      <p:sp>
        <p:nvSpPr>
          <p:cNvPr id="12" name="TextBox 11">
            <a:extLst>
              <a:ext uri="{FF2B5EF4-FFF2-40B4-BE49-F238E27FC236}">
                <a16:creationId xmlns:a16="http://schemas.microsoft.com/office/drawing/2014/main" id="{800CAD87-605E-36B6-EB16-5CA9EDB5A21C}"/>
              </a:ext>
            </a:extLst>
          </p:cNvPr>
          <p:cNvSpPr txBox="1"/>
          <p:nvPr/>
        </p:nvSpPr>
        <p:spPr>
          <a:xfrm>
            <a:off x="1597623" y="2300605"/>
            <a:ext cx="8996266" cy="91440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5400" dirty="0" err="1">
                <a:solidFill>
                  <a:schemeClr val="bg1"/>
                </a:solidFill>
                <a:latin typeface="+mj-lt"/>
                <a:ea typeface="+mj-ea"/>
                <a:cs typeface="+mj-cs"/>
              </a:rPr>
              <a:t>მადლობა</a:t>
            </a:r>
            <a:r>
              <a:rPr lang="en-US" sz="5400" kern="1200" dirty="0">
                <a:solidFill>
                  <a:schemeClr val="bg1"/>
                </a:solidFill>
                <a:latin typeface="+mj-lt"/>
                <a:ea typeface="+mj-ea"/>
                <a:cs typeface="+mj-cs"/>
              </a:rPr>
              <a:t> </a:t>
            </a:r>
            <a:r>
              <a:rPr lang="en-US" sz="5400" kern="1200" dirty="0" err="1">
                <a:solidFill>
                  <a:schemeClr val="bg1"/>
                </a:solidFill>
                <a:latin typeface="+mj-lt"/>
                <a:ea typeface="+mj-ea"/>
                <a:cs typeface="+mj-cs"/>
              </a:rPr>
              <a:t>ყურადღებისთვის</a:t>
            </a:r>
            <a:endParaRPr lang="en-US" sz="5400" kern="1200" dirty="0">
              <a:solidFill>
                <a:schemeClr val="bg1"/>
              </a:solidFill>
              <a:latin typeface="+mj-lt"/>
              <a:ea typeface="+mj-ea"/>
              <a:cs typeface="+mj-cs"/>
            </a:endParaRPr>
          </a:p>
        </p:txBody>
      </p:sp>
      <p:cxnSp>
        <p:nvCxnSpPr>
          <p:cNvPr id="21" name="Straight Connector 20">
            <a:extLst>
              <a:ext uri="{FF2B5EF4-FFF2-40B4-BE49-F238E27FC236}">
                <a16:creationId xmlns:a16="http://schemas.microsoft.com/office/drawing/2014/main" id="{EC4521DE-248E-440D-AAD6-FD9E7D34B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285"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2C13FA-4C0F-42D0-9626-5BA6040D8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6252485"/>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0EEF0EB-2161-1ACE-44AB-CDCC7FB0F8BA}"/>
              </a:ext>
            </a:extLst>
          </p:cNvPr>
          <p:cNvSpPr txBox="1"/>
          <p:nvPr/>
        </p:nvSpPr>
        <p:spPr>
          <a:xfrm>
            <a:off x="640080" y="284480"/>
            <a:ext cx="26720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dirty="0" err="1">
                <a:solidFill>
                  <a:schemeClr val="bg1"/>
                </a:solidFill>
              </a:rPr>
              <a:t>ნიკოლოზ</a:t>
            </a:r>
            <a:r>
              <a:rPr lang="en-US" dirty="0">
                <a:solidFill>
                  <a:schemeClr val="bg1"/>
                </a:solidFill>
              </a:rPr>
              <a:t> </a:t>
            </a:r>
            <a:r>
              <a:rPr lang="en-US" dirty="0" err="1">
                <a:solidFill>
                  <a:schemeClr val="bg1"/>
                </a:solidFill>
              </a:rPr>
              <a:t>მარგიშვილი</a:t>
            </a:r>
            <a:r>
              <a:rPr lang="en-US" dirty="0" err="1"/>
              <a:t>ი</a:t>
            </a:r>
            <a:endParaRPr lang="en-US" err="1"/>
          </a:p>
        </p:txBody>
      </p:sp>
      <p:sp>
        <p:nvSpPr>
          <p:cNvPr id="15" name="TextBox 14">
            <a:extLst>
              <a:ext uri="{FF2B5EF4-FFF2-40B4-BE49-F238E27FC236}">
                <a16:creationId xmlns:a16="http://schemas.microsoft.com/office/drawing/2014/main" id="{ED8E183F-DD63-83B4-0FD3-ABF5F461C058}"/>
              </a:ext>
            </a:extLst>
          </p:cNvPr>
          <p:cNvSpPr txBox="1"/>
          <p:nvPr/>
        </p:nvSpPr>
        <p:spPr>
          <a:xfrm>
            <a:off x="1737360" y="3804920"/>
            <a:ext cx="6096000" cy="1844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lnSpc>
                <a:spcPts val="2250"/>
              </a:lnSpc>
            </a:pPr>
            <a:r>
              <a:rPr lang="en-US" sz="2000" dirty="0" err="1">
                <a:solidFill>
                  <a:srgbClr val="FFFFFF"/>
                </a:solidFill>
                <a:latin typeface="Aptos"/>
              </a:rPr>
              <a:t>წყაროები</a:t>
            </a:r>
            <a:r>
              <a:rPr lang="en-US" sz="2000" b="0" i="0" u="none" strike="noStrike" baseline="0" dirty="0">
                <a:solidFill>
                  <a:srgbClr val="FFFFFF"/>
                </a:solidFill>
                <a:latin typeface="Aptos"/>
              </a:rPr>
              <a:t>:</a:t>
            </a:r>
            <a:r>
              <a:rPr lang="en-US" sz="2000" b="0" i="0" dirty="0">
                <a:latin typeface="Aptos"/>
              </a:rPr>
              <a:t>​</a:t>
            </a:r>
          </a:p>
          <a:p>
            <a:pPr algn="l" rtl="0">
              <a:lnSpc>
                <a:spcPts val="2250"/>
              </a:lnSpc>
            </a:pPr>
            <a:r>
              <a:rPr lang="en-US" sz="2000" b="0" i="0" u="sng" strike="noStrike" baseline="0" dirty="0">
                <a:solidFill>
                  <a:srgbClr val="FFFFFF"/>
                </a:solidFill>
                <a:latin typeface="Aptos"/>
                <a:hlinkClick r:id="rId2">
                  <a:extLst>
                    <a:ext uri="{A12FA001-AC4F-418D-AE19-62706E023703}">
                      <ahyp:hlinkClr xmlns:ahyp="http://schemas.microsoft.com/office/drawing/2018/hyperlinkcolor" val="tx"/>
                    </a:ext>
                  </a:extLst>
                </a:hlinkClick>
              </a:rPr>
              <a:t>https://owasp.org</a:t>
            </a:r>
            <a:r>
              <a:rPr lang="en-US" sz="2000" b="0" i="0" dirty="0">
                <a:latin typeface="Aptos"/>
              </a:rPr>
              <a:t>​</a:t>
            </a:r>
          </a:p>
          <a:p>
            <a:pPr algn="l" rtl="0">
              <a:lnSpc>
                <a:spcPts val="2250"/>
              </a:lnSpc>
            </a:pPr>
            <a:r>
              <a:rPr lang="en-US" sz="2000" b="0" i="0" u="sng" strike="noStrike" baseline="0" dirty="0">
                <a:solidFill>
                  <a:srgbClr val="FFFFFF"/>
                </a:solidFill>
                <a:latin typeface="Aptos"/>
                <a:hlinkClick r:id="rId3">
                  <a:extLst>
                    <a:ext uri="{A12FA001-AC4F-418D-AE19-62706E023703}">
                      <ahyp:hlinkClr xmlns:ahyp="http://schemas.microsoft.com/office/drawing/2018/hyperlinkcolor" val="tx"/>
                    </a:ext>
                  </a:extLst>
                </a:hlinkClick>
              </a:rPr>
              <a:t>https://csrc.nist.gov/projects/post-quantum-cryptography</a:t>
            </a:r>
            <a:r>
              <a:rPr lang="en-US" sz="2000" b="0" i="0" dirty="0">
                <a:latin typeface="Aptos"/>
              </a:rPr>
              <a:t>​</a:t>
            </a:r>
          </a:p>
          <a:p>
            <a:pPr algn="l" rtl="0">
              <a:lnSpc>
                <a:spcPts val="2250"/>
              </a:lnSpc>
            </a:pPr>
            <a:r>
              <a:rPr lang="en-US" sz="2000" b="0" i="0" u="sng" strike="noStrike" baseline="0" dirty="0">
                <a:solidFill>
                  <a:srgbClr val="FFFFFF"/>
                </a:solidFill>
                <a:latin typeface="Aptos"/>
                <a:hlinkClick r:id="rId4">
                  <a:extLst>
                    <a:ext uri="{A12FA001-AC4F-418D-AE19-62706E023703}">
                      <ahyp:hlinkClr xmlns:ahyp="http://schemas.microsoft.com/office/drawing/2018/hyperlinkcolor" val="tx"/>
                    </a:ext>
                  </a:extLst>
                </a:hlinkClick>
              </a:rPr>
              <a:t>https://krebsonsecurity.com/</a:t>
            </a:r>
          </a:p>
          <a:p>
            <a:pPr algn="ctr"/>
            <a:endParaRPr lang="en-US"/>
          </a:p>
        </p:txBody>
      </p:sp>
    </p:spTree>
    <p:extLst>
      <p:ext uri="{BB962C8B-B14F-4D97-AF65-F5344CB8AC3E}">
        <p14:creationId xmlns:p14="http://schemas.microsoft.com/office/powerpoint/2010/main" val="23971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Man-in-the-Middle (MitM) შეტევის ანალიზი</vt:lpstr>
      <vt:lpstr>კრიპტოგრაფიის საფუძვლები და შეტევის ტიპები</vt:lpstr>
      <vt:lpstr>PowerPoint Presentation</vt:lpstr>
      <vt:lpstr>ტექნიკური მექანიზმი: ჩაჭრა და დეკრიპტაცია</vt:lpstr>
      <vt:lpstr>პრაქტიკული მაგალითი: "ბოროტი ტყუპი" (Evil Twin)</vt:lpstr>
      <vt:lpstr>ზეგავლენა უსაფრთხოებაზე</vt:lpstr>
      <vt:lpstr>თავდაცვის მეთოდები (პრევენცია)</vt:lpstr>
      <vt:lpstr>შემთხვევა ისტორიიდან: DigiNotar (2011)</vt:lpstr>
      <vt:lpstr>კრიპტოგრაფიის განვითარება და დასკვნა</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471</cp:revision>
  <dcterms:created xsi:type="dcterms:W3CDTF">2026-03-26T16:05:18Z</dcterms:created>
  <dcterms:modified xsi:type="dcterms:W3CDTF">2026-03-27T19:55:12Z</dcterms:modified>
</cp:coreProperties>
</file>